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32404050" cy="432054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3607">
          <p15:clr>
            <a:srgbClr val="A4A3A4"/>
          </p15:clr>
        </p15:guide>
        <p15:guide id="2" pos="10205">
          <p15:clr>
            <a:srgbClr val="A4A3A4"/>
          </p15:clr>
        </p15:guide>
        <p15:guide id="3" orient="horz" pos="13608">
          <p15:clr>
            <a:srgbClr val="A4A3A4"/>
          </p15:clr>
        </p15:guide>
        <p15:guide id="4" pos="10206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7" roundtripDataSignature="AMtx7mhsp+FRlBeH/1tlbrDwfuOaZsMzj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Destaqu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186" autoAdjust="0"/>
  </p:normalViewPr>
  <p:slideViewPr>
    <p:cSldViewPr snapToGrid="0">
      <p:cViewPr>
        <p:scale>
          <a:sx n="40" d="100"/>
          <a:sy n="40" d="100"/>
        </p:scale>
        <p:origin x="-1326" y="-8274"/>
      </p:cViewPr>
      <p:guideLst>
        <p:guide orient="horz" pos="13607"/>
        <p:guide pos="10205"/>
        <p:guide orient="horz" pos="13608"/>
        <p:guide pos="1020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7" Type="http://customschemas.google.com/relationships/presentationmetadata" Target="meta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11" Type="http://schemas.openxmlformats.org/officeDocument/2006/relationships/tableStyles" Target="tableStyles.xml"/><Relationship Id="rId10" Type="http://schemas.openxmlformats.org/officeDocument/2006/relationships/theme" Target="theme/theme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143125" y="685800"/>
            <a:ext cx="25717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15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15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15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15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15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dt" idx="10"/>
          </p:nvPr>
        </p:nvSpPr>
        <p:spPr>
          <a:xfrm>
            <a:off x="1620612" y="40045006"/>
            <a:ext cx="7560129" cy="2301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16400" tIns="158200" rIns="316400" bIns="1582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ftr" idx="11"/>
          </p:nvPr>
        </p:nvSpPr>
        <p:spPr>
          <a:xfrm>
            <a:off x="11070774" y="40045006"/>
            <a:ext cx="10262508" cy="2301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16400" tIns="158200" rIns="316400" bIns="1582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ldNum" idx="12"/>
          </p:nvPr>
        </p:nvSpPr>
        <p:spPr>
          <a:xfrm>
            <a:off x="23223314" y="40045006"/>
            <a:ext cx="7560129" cy="2301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16400" tIns="158200" rIns="316400" bIns="1582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type="title">
  <p:cSld name="TITL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ctrTitle"/>
          </p:nvPr>
        </p:nvSpPr>
        <p:spPr>
          <a:xfrm>
            <a:off x="2430306" y="13421683"/>
            <a:ext cx="27543443" cy="92611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16400" tIns="158200" rIns="316400" bIns="1582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subTitle" idx="1"/>
          </p:nvPr>
        </p:nvSpPr>
        <p:spPr>
          <a:xfrm>
            <a:off x="4860609" y="24483063"/>
            <a:ext cx="22682835" cy="1104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16400" tIns="158200" rIns="316400" bIns="1582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888888"/>
              </a:buClr>
              <a:buSzPts val="110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1940"/>
              </a:spcBef>
              <a:spcAft>
                <a:spcPts val="0"/>
              </a:spcAft>
              <a:buClr>
                <a:srgbClr val="888888"/>
              </a:buClr>
              <a:buSzPts val="97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1660"/>
              </a:spcBef>
              <a:spcAft>
                <a:spcPts val="0"/>
              </a:spcAft>
              <a:buClr>
                <a:srgbClr val="888888"/>
              </a:buClr>
              <a:buSzPts val="83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888888"/>
              </a:buClr>
              <a:buSzPts val="7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888888"/>
              </a:buClr>
              <a:buSzPts val="7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888888"/>
              </a:buClr>
              <a:buSzPts val="7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888888"/>
              </a:buClr>
              <a:buSzPts val="7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888888"/>
              </a:buClr>
              <a:buSzPts val="7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888888"/>
              </a:buClr>
              <a:buSzPts val="7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dt" idx="10"/>
          </p:nvPr>
        </p:nvSpPr>
        <p:spPr>
          <a:xfrm>
            <a:off x="1620612" y="40045006"/>
            <a:ext cx="7560129" cy="2301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16400" tIns="158200" rIns="316400" bIns="1582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ftr" idx="11"/>
          </p:nvPr>
        </p:nvSpPr>
        <p:spPr>
          <a:xfrm>
            <a:off x="11070774" y="40045006"/>
            <a:ext cx="10262508" cy="2301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16400" tIns="158200" rIns="316400" bIns="1582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23223314" y="40045006"/>
            <a:ext cx="7560129" cy="2301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16400" tIns="158200" rIns="316400" bIns="1582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1620613" y="1729741"/>
            <a:ext cx="29162828" cy="72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16400" tIns="158200" rIns="316400" bIns="1582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1620613" y="10081261"/>
            <a:ext cx="29162828" cy="285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16400" tIns="158200" rIns="316400" bIns="1582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dt" idx="10"/>
          </p:nvPr>
        </p:nvSpPr>
        <p:spPr>
          <a:xfrm>
            <a:off x="1620612" y="40045006"/>
            <a:ext cx="7560129" cy="2301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16400" tIns="158200" rIns="316400" bIns="1582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ftr" idx="11"/>
          </p:nvPr>
        </p:nvSpPr>
        <p:spPr>
          <a:xfrm>
            <a:off x="11070774" y="40045006"/>
            <a:ext cx="10262508" cy="2301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16400" tIns="158200" rIns="316400" bIns="1582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23223314" y="40045006"/>
            <a:ext cx="7560129" cy="2301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16400" tIns="158200" rIns="316400" bIns="1582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ção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>
            <a:spLocks noGrp="1"/>
          </p:cNvSpPr>
          <p:nvPr>
            <p:ph type="title"/>
          </p:nvPr>
        </p:nvSpPr>
        <p:spPr>
          <a:xfrm>
            <a:off x="2559697" y="27763477"/>
            <a:ext cx="27543443" cy="8581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16400" tIns="158200" rIns="316400" bIns="1582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800" b="1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body" idx="1"/>
          </p:nvPr>
        </p:nvSpPr>
        <p:spPr>
          <a:xfrm>
            <a:off x="2559697" y="18312297"/>
            <a:ext cx="27543443" cy="9451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16400" tIns="158200" rIns="316400" bIns="1582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888888"/>
              </a:buClr>
              <a:buSzPts val="7000"/>
              <a:buNone/>
              <a:defRPr sz="7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Clr>
                <a:srgbClr val="888888"/>
              </a:buClr>
              <a:buSzPts val="6200"/>
              <a:buNone/>
              <a:defRPr sz="62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rgbClr val="888888"/>
              </a:buClr>
              <a:buSzPts val="5600"/>
              <a:buNone/>
              <a:defRPr sz="5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980"/>
              </a:spcBef>
              <a:spcAft>
                <a:spcPts val="0"/>
              </a:spcAft>
              <a:buClr>
                <a:srgbClr val="888888"/>
              </a:buClr>
              <a:buSzPts val="4900"/>
              <a:buNone/>
              <a:defRPr sz="49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980"/>
              </a:spcBef>
              <a:spcAft>
                <a:spcPts val="0"/>
              </a:spcAft>
              <a:buClr>
                <a:srgbClr val="888888"/>
              </a:buClr>
              <a:buSzPts val="4900"/>
              <a:buNone/>
              <a:defRPr sz="49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980"/>
              </a:spcBef>
              <a:spcAft>
                <a:spcPts val="0"/>
              </a:spcAft>
              <a:buClr>
                <a:srgbClr val="888888"/>
              </a:buClr>
              <a:buSzPts val="4900"/>
              <a:buNone/>
              <a:defRPr sz="49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980"/>
              </a:spcBef>
              <a:spcAft>
                <a:spcPts val="0"/>
              </a:spcAft>
              <a:buClr>
                <a:srgbClr val="888888"/>
              </a:buClr>
              <a:buSzPts val="4900"/>
              <a:buNone/>
              <a:defRPr sz="49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980"/>
              </a:spcBef>
              <a:spcAft>
                <a:spcPts val="0"/>
              </a:spcAft>
              <a:buClr>
                <a:srgbClr val="888888"/>
              </a:buClr>
              <a:buSzPts val="4900"/>
              <a:buNone/>
              <a:defRPr sz="49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980"/>
              </a:spcBef>
              <a:spcAft>
                <a:spcPts val="0"/>
              </a:spcAft>
              <a:buClr>
                <a:srgbClr val="888888"/>
              </a:buClr>
              <a:buSzPts val="4900"/>
              <a:buNone/>
              <a:defRPr sz="49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dt" idx="10"/>
          </p:nvPr>
        </p:nvSpPr>
        <p:spPr>
          <a:xfrm>
            <a:off x="1620612" y="40045006"/>
            <a:ext cx="7560129" cy="2301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16400" tIns="158200" rIns="316400" bIns="1582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ftr" idx="11"/>
          </p:nvPr>
        </p:nvSpPr>
        <p:spPr>
          <a:xfrm>
            <a:off x="11070774" y="40045006"/>
            <a:ext cx="10262508" cy="2301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16400" tIns="158200" rIns="316400" bIns="1582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sldNum" idx="12"/>
          </p:nvPr>
        </p:nvSpPr>
        <p:spPr>
          <a:xfrm>
            <a:off x="23223314" y="40045006"/>
            <a:ext cx="7560129" cy="2301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16400" tIns="158200" rIns="316400" bIns="1582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as Partes de Conteúdo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>
            <a:spLocks noGrp="1"/>
          </p:cNvSpPr>
          <p:nvPr>
            <p:ph type="title"/>
          </p:nvPr>
        </p:nvSpPr>
        <p:spPr>
          <a:xfrm>
            <a:off x="1620613" y="1729741"/>
            <a:ext cx="29162828" cy="72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16400" tIns="158200" rIns="316400" bIns="1582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1"/>
          </p:nvPr>
        </p:nvSpPr>
        <p:spPr>
          <a:xfrm>
            <a:off x="1620205" y="10081264"/>
            <a:ext cx="14311789" cy="285135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16400" tIns="158200" rIns="316400" bIns="158200" anchor="t" anchorCtr="0">
            <a:noAutofit/>
          </a:bodyPr>
          <a:lstStyle>
            <a:lvl1pPr marL="457200" lvl="0" indent="-844550" algn="l">
              <a:lnSpc>
                <a:spcPct val="100000"/>
              </a:lnSpc>
              <a:spcBef>
                <a:spcPts val="1940"/>
              </a:spcBef>
              <a:spcAft>
                <a:spcPts val="0"/>
              </a:spcAft>
              <a:buClr>
                <a:schemeClr val="dk1"/>
              </a:buClr>
              <a:buSzPts val="9700"/>
              <a:buChar char="•"/>
              <a:defRPr sz="9700"/>
            </a:lvl1pPr>
            <a:lvl2pPr marL="914400" lvl="1" indent="-755650" algn="l">
              <a:lnSpc>
                <a:spcPct val="100000"/>
              </a:lnSpc>
              <a:spcBef>
                <a:spcPts val="1660"/>
              </a:spcBef>
              <a:spcAft>
                <a:spcPts val="0"/>
              </a:spcAft>
              <a:buClr>
                <a:schemeClr val="dk1"/>
              </a:buClr>
              <a:buSzPts val="8300"/>
              <a:buChar char="–"/>
              <a:defRPr sz="8300"/>
            </a:lvl2pPr>
            <a:lvl3pPr marL="1371600" lvl="2" indent="-67310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7000"/>
              <a:buChar char="•"/>
              <a:defRPr sz="7000"/>
            </a:lvl3pPr>
            <a:lvl4pPr marL="1828800" lvl="3" indent="-62230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200"/>
              <a:buChar char="–"/>
              <a:defRPr sz="6200"/>
            </a:lvl4pPr>
            <a:lvl5pPr marL="2286000" lvl="4" indent="-62230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200"/>
              <a:buChar char="»"/>
              <a:defRPr sz="6200"/>
            </a:lvl5pPr>
            <a:lvl6pPr marL="2743200" lvl="5" indent="-62230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200"/>
              <a:buChar char="•"/>
              <a:defRPr sz="6200"/>
            </a:lvl6pPr>
            <a:lvl7pPr marL="3200400" lvl="6" indent="-62230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200"/>
              <a:buChar char="•"/>
              <a:defRPr sz="6200"/>
            </a:lvl7pPr>
            <a:lvl8pPr marL="3657600" lvl="7" indent="-62230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200"/>
              <a:buChar char="•"/>
              <a:defRPr sz="6200"/>
            </a:lvl8pPr>
            <a:lvl9pPr marL="4114800" lvl="8" indent="-62230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200"/>
              <a:buChar char="•"/>
              <a:defRPr sz="62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2"/>
          </p:nvPr>
        </p:nvSpPr>
        <p:spPr>
          <a:xfrm>
            <a:off x="16472059" y="10081264"/>
            <a:ext cx="14311789" cy="285135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16400" tIns="158200" rIns="316400" bIns="158200" anchor="t" anchorCtr="0">
            <a:noAutofit/>
          </a:bodyPr>
          <a:lstStyle>
            <a:lvl1pPr marL="457200" lvl="0" indent="-844550" algn="l">
              <a:lnSpc>
                <a:spcPct val="100000"/>
              </a:lnSpc>
              <a:spcBef>
                <a:spcPts val="1940"/>
              </a:spcBef>
              <a:spcAft>
                <a:spcPts val="0"/>
              </a:spcAft>
              <a:buClr>
                <a:schemeClr val="dk1"/>
              </a:buClr>
              <a:buSzPts val="9700"/>
              <a:buChar char="•"/>
              <a:defRPr sz="9700"/>
            </a:lvl1pPr>
            <a:lvl2pPr marL="914400" lvl="1" indent="-755650" algn="l">
              <a:lnSpc>
                <a:spcPct val="100000"/>
              </a:lnSpc>
              <a:spcBef>
                <a:spcPts val="1660"/>
              </a:spcBef>
              <a:spcAft>
                <a:spcPts val="0"/>
              </a:spcAft>
              <a:buClr>
                <a:schemeClr val="dk1"/>
              </a:buClr>
              <a:buSzPts val="8300"/>
              <a:buChar char="–"/>
              <a:defRPr sz="8300"/>
            </a:lvl2pPr>
            <a:lvl3pPr marL="1371600" lvl="2" indent="-67310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7000"/>
              <a:buChar char="•"/>
              <a:defRPr sz="7000"/>
            </a:lvl3pPr>
            <a:lvl4pPr marL="1828800" lvl="3" indent="-62230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200"/>
              <a:buChar char="–"/>
              <a:defRPr sz="6200"/>
            </a:lvl4pPr>
            <a:lvl5pPr marL="2286000" lvl="4" indent="-62230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200"/>
              <a:buChar char="»"/>
              <a:defRPr sz="6200"/>
            </a:lvl5pPr>
            <a:lvl6pPr marL="2743200" lvl="5" indent="-62230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200"/>
              <a:buChar char="•"/>
              <a:defRPr sz="6200"/>
            </a:lvl6pPr>
            <a:lvl7pPr marL="3200400" lvl="6" indent="-62230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200"/>
              <a:buChar char="•"/>
              <a:defRPr sz="6200"/>
            </a:lvl7pPr>
            <a:lvl8pPr marL="3657600" lvl="7" indent="-62230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200"/>
              <a:buChar char="•"/>
              <a:defRPr sz="6200"/>
            </a:lvl8pPr>
            <a:lvl9pPr marL="4114800" lvl="8" indent="-62230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200"/>
              <a:buChar char="•"/>
              <a:defRPr sz="6200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dt" idx="10"/>
          </p:nvPr>
        </p:nvSpPr>
        <p:spPr>
          <a:xfrm>
            <a:off x="1620612" y="40045006"/>
            <a:ext cx="7560129" cy="2301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16400" tIns="158200" rIns="316400" bIns="1582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ftr" idx="11"/>
          </p:nvPr>
        </p:nvSpPr>
        <p:spPr>
          <a:xfrm>
            <a:off x="11070774" y="40045006"/>
            <a:ext cx="10262508" cy="2301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16400" tIns="158200" rIns="316400" bIns="1582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sldNum" idx="12"/>
          </p:nvPr>
        </p:nvSpPr>
        <p:spPr>
          <a:xfrm>
            <a:off x="23223314" y="40045006"/>
            <a:ext cx="7560129" cy="2301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16400" tIns="158200" rIns="316400" bIns="1582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ção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"/>
          <p:cNvSpPr txBox="1">
            <a:spLocks noGrp="1"/>
          </p:cNvSpPr>
          <p:nvPr>
            <p:ph type="title"/>
          </p:nvPr>
        </p:nvSpPr>
        <p:spPr>
          <a:xfrm>
            <a:off x="1620613" y="1729741"/>
            <a:ext cx="29162828" cy="72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16400" tIns="158200" rIns="316400" bIns="1582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8"/>
          <p:cNvSpPr txBox="1">
            <a:spLocks noGrp="1"/>
          </p:cNvSpPr>
          <p:nvPr>
            <p:ph type="body" idx="1"/>
          </p:nvPr>
        </p:nvSpPr>
        <p:spPr>
          <a:xfrm>
            <a:off x="1620204" y="9671215"/>
            <a:ext cx="14317416" cy="4030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16400" tIns="158200" rIns="316400" bIns="1582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660"/>
              </a:spcBef>
              <a:spcAft>
                <a:spcPts val="0"/>
              </a:spcAft>
              <a:buClr>
                <a:schemeClr val="dk1"/>
              </a:buClr>
              <a:buSzPts val="8300"/>
              <a:buNone/>
              <a:defRPr sz="8300" b="1"/>
            </a:lvl1pPr>
            <a:lvl2pPr marL="914400" lvl="1" indent="-22860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7000"/>
              <a:buNone/>
              <a:defRPr sz="7000" b="1"/>
            </a:lvl2pPr>
            <a:lvl3pPr marL="1371600" lvl="2" indent="-22860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200"/>
              <a:buNone/>
              <a:defRPr sz="6200" b="1"/>
            </a:lvl3pPr>
            <a:lvl4pPr marL="1828800" lvl="3" indent="-22860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 b="1"/>
            </a:lvl4pPr>
            <a:lvl5pPr marL="2286000" lvl="4" indent="-22860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 b="1"/>
            </a:lvl5pPr>
            <a:lvl6pPr marL="2743200" lvl="5" indent="-22860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 b="1"/>
            </a:lvl6pPr>
            <a:lvl7pPr marL="3200400" lvl="6" indent="-22860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 b="1"/>
            </a:lvl7pPr>
            <a:lvl8pPr marL="3657600" lvl="7" indent="-22860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 b="1"/>
            </a:lvl8pPr>
            <a:lvl9pPr marL="4114800" lvl="8" indent="-22860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 b="1"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body" idx="2"/>
          </p:nvPr>
        </p:nvSpPr>
        <p:spPr>
          <a:xfrm>
            <a:off x="1620204" y="13701714"/>
            <a:ext cx="14317416" cy="24893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16400" tIns="158200" rIns="316400" bIns="158200" anchor="t" anchorCtr="0">
            <a:noAutofit/>
          </a:bodyPr>
          <a:lstStyle>
            <a:lvl1pPr marL="457200" lvl="0" indent="-755650" algn="l">
              <a:lnSpc>
                <a:spcPct val="100000"/>
              </a:lnSpc>
              <a:spcBef>
                <a:spcPts val="1660"/>
              </a:spcBef>
              <a:spcAft>
                <a:spcPts val="0"/>
              </a:spcAft>
              <a:buClr>
                <a:schemeClr val="dk1"/>
              </a:buClr>
              <a:buSzPts val="8300"/>
              <a:buChar char="•"/>
              <a:defRPr sz="8300"/>
            </a:lvl1pPr>
            <a:lvl2pPr marL="914400" lvl="1" indent="-67310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7000"/>
              <a:buChar char="–"/>
              <a:defRPr sz="7000"/>
            </a:lvl2pPr>
            <a:lvl3pPr marL="1371600" lvl="2" indent="-62230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200"/>
              <a:buChar char="•"/>
              <a:defRPr sz="6200"/>
            </a:lvl3pPr>
            <a:lvl4pPr marL="1828800" lvl="3" indent="-58420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5600"/>
              <a:buChar char="–"/>
              <a:defRPr sz="5600"/>
            </a:lvl4pPr>
            <a:lvl5pPr marL="2286000" lvl="4" indent="-58420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5600"/>
              <a:buChar char="»"/>
              <a:defRPr sz="5600"/>
            </a:lvl5pPr>
            <a:lvl6pPr marL="2743200" lvl="5" indent="-58420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5600"/>
              <a:buChar char="•"/>
              <a:defRPr sz="5600"/>
            </a:lvl6pPr>
            <a:lvl7pPr marL="3200400" lvl="6" indent="-58420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5600"/>
              <a:buChar char="•"/>
              <a:defRPr sz="5600"/>
            </a:lvl7pPr>
            <a:lvl8pPr marL="3657600" lvl="7" indent="-58420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5600"/>
              <a:buChar char="•"/>
              <a:defRPr sz="5600"/>
            </a:lvl8pPr>
            <a:lvl9pPr marL="4114800" lvl="8" indent="-58420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5600"/>
              <a:buChar char="•"/>
              <a:defRPr sz="5600"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body" idx="3"/>
          </p:nvPr>
        </p:nvSpPr>
        <p:spPr>
          <a:xfrm>
            <a:off x="16460814" y="9671215"/>
            <a:ext cx="14323040" cy="4030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16400" tIns="158200" rIns="316400" bIns="1582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660"/>
              </a:spcBef>
              <a:spcAft>
                <a:spcPts val="0"/>
              </a:spcAft>
              <a:buClr>
                <a:schemeClr val="dk1"/>
              </a:buClr>
              <a:buSzPts val="8300"/>
              <a:buNone/>
              <a:defRPr sz="8300" b="1"/>
            </a:lvl1pPr>
            <a:lvl2pPr marL="914400" lvl="1" indent="-22860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7000"/>
              <a:buNone/>
              <a:defRPr sz="7000" b="1"/>
            </a:lvl2pPr>
            <a:lvl3pPr marL="1371600" lvl="2" indent="-22860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200"/>
              <a:buNone/>
              <a:defRPr sz="6200" b="1"/>
            </a:lvl3pPr>
            <a:lvl4pPr marL="1828800" lvl="3" indent="-22860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 b="1"/>
            </a:lvl4pPr>
            <a:lvl5pPr marL="2286000" lvl="4" indent="-22860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 b="1"/>
            </a:lvl5pPr>
            <a:lvl6pPr marL="2743200" lvl="5" indent="-22860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 b="1"/>
            </a:lvl6pPr>
            <a:lvl7pPr marL="3200400" lvl="6" indent="-22860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 b="1"/>
            </a:lvl7pPr>
            <a:lvl8pPr marL="3657600" lvl="7" indent="-22860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 b="1"/>
            </a:lvl8pPr>
            <a:lvl9pPr marL="4114800" lvl="8" indent="-22860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 b="1"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body" idx="4"/>
          </p:nvPr>
        </p:nvSpPr>
        <p:spPr>
          <a:xfrm>
            <a:off x="16460814" y="13701714"/>
            <a:ext cx="14323040" cy="24893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16400" tIns="158200" rIns="316400" bIns="158200" anchor="t" anchorCtr="0">
            <a:noAutofit/>
          </a:bodyPr>
          <a:lstStyle>
            <a:lvl1pPr marL="457200" lvl="0" indent="-755650" algn="l">
              <a:lnSpc>
                <a:spcPct val="100000"/>
              </a:lnSpc>
              <a:spcBef>
                <a:spcPts val="1660"/>
              </a:spcBef>
              <a:spcAft>
                <a:spcPts val="0"/>
              </a:spcAft>
              <a:buClr>
                <a:schemeClr val="dk1"/>
              </a:buClr>
              <a:buSzPts val="8300"/>
              <a:buChar char="•"/>
              <a:defRPr sz="8300"/>
            </a:lvl1pPr>
            <a:lvl2pPr marL="914400" lvl="1" indent="-67310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7000"/>
              <a:buChar char="–"/>
              <a:defRPr sz="7000"/>
            </a:lvl2pPr>
            <a:lvl3pPr marL="1371600" lvl="2" indent="-62230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200"/>
              <a:buChar char="•"/>
              <a:defRPr sz="6200"/>
            </a:lvl3pPr>
            <a:lvl4pPr marL="1828800" lvl="3" indent="-58420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5600"/>
              <a:buChar char="–"/>
              <a:defRPr sz="5600"/>
            </a:lvl4pPr>
            <a:lvl5pPr marL="2286000" lvl="4" indent="-58420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5600"/>
              <a:buChar char="»"/>
              <a:defRPr sz="5600"/>
            </a:lvl5pPr>
            <a:lvl6pPr marL="2743200" lvl="5" indent="-58420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5600"/>
              <a:buChar char="•"/>
              <a:defRPr sz="5600"/>
            </a:lvl6pPr>
            <a:lvl7pPr marL="3200400" lvl="6" indent="-58420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5600"/>
              <a:buChar char="•"/>
              <a:defRPr sz="5600"/>
            </a:lvl7pPr>
            <a:lvl8pPr marL="3657600" lvl="7" indent="-58420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5600"/>
              <a:buChar char="•"/>
              <a:defRPr sz="5600"/>
            </a:lvl8pPr>
            <a:lvl9pPr marL="4114800" lvl="8" indent="-58420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5600"/>
              <a:buChar char="•"/>
              <a:defRPr sz="5600"/>
            </a:lvl9pPr>
          </a:lstStyle>
          <a:p>
            <a:endParaRPr/>
          </a:p>
        </p:txBody>
      </p:sp>
      <p:sp>
        <p:nvSpPr>
          <p:cNvPr id="50" name="Google Shape;50;p8"/>
          <p:cNvSpPr txBox="1">
            <a:spLocks noGrp="1"/>
          </p:cNvSpPr>
          <p:nvPr>
            <p:ph type="dt" idx="10"/>
          </p:nvPr>
        </p:nvSpPr>
        <p:spPr>
          <a:xfrm>
            <a:off x="1620612" y="40045006"/>
            <a:ext cx="7560129" cy="2301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16400" tIns="158200" rIns="316400" bIns="1582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ftr" idx="11"/>
          </p:nvPr>
        </p:nvSpPr>
        <p:spPr>
          <a:xfrm>
            <a:off x="11070774" y="40045006"/>
            <a:ext cx="10262508" cy="2301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16400" tIns="158200" rIns="316400" bIns="1582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sldNum" idx="12"/>
          </p:nvPr>
        </p:nvSpPr>
        <p:spPr>
          <a:xfrm>
            <a:off x="23223314" y="40045006"/>
            <a:ext cx="7560129" cy="2301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16400" tIns="158200" rIns="316400" bIns="1582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mente título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9"/>
          <p:cNvSpPr txBox="1">
            <a:spLocks noGrp="1"/>
          </p:cNvSpPr>
          <p:nvPr>
            <p:ph type="title"/>
          </p:nvPr>
        </p:nvSpPr>
        <p:spPr>
          <a:xfrm>
            <a:off x="1620613" y="1729741"/>
            <a:ext cx="29162828" cy="72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16400" tIns="158200" rIns="316400" bIns="1582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9"/>
          <p:cNvSpPr txBox="1">
            <a:spLocks noGrp="1"/>
          </p:cNvSpPr>
          <p:nvPr>
            <p:ph type="dt" idx="10"/>
          </p:nvPr>
        </p:nvSpPr>
        <p:spPr>
          <a:xfrm>
            <a:off x="1620612" y="40045006"/>
            <a:ext cx="7560129" cy="2301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16400" tIns="158200" rIns="316400" bIns="1582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ftr" idx="11"/>
          </p:nvPr>
        </p:nvSpPr>
        <p:spPr>
          <a:xfrm>
            <a:off x="11070774" y="40045006"/>
            <a:ext cx="10262508" cy="2301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16400" tIns="158200" rIns="316400" bIns="1582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sldNum" idx="12"/>
          </p:nvPr>
        </p:nvSpPr>
        <p:spPr>
          <a:xfrm>
            <a:off x="23223314" y="40045006"/>
            <a:ext cx="7560129" cy="2301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16400" tIns="158200" rIns="316400" bIns="1582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com Legenda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 txBox="1">
            <a:spLocks noGrp="1"/>
          </p:cNvSpPr>
          <p:nvPr>
            <p:ph type="title"/>
          </p:nvPr>
        </p:nvSpPr>
        <p:spPr>
          <a:xfrm>
            <a:off x="1620207" y="1720217"/>
            <a:ext cx="10660709" cy="7320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16400" tIns="158200" rIns="316400" bIns="1582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body" idx="1"/>
          </p:nvPr>
        </p:nvSpPr>
        <p:spPr>
          <a:xfrm>
            <a:off x="12669087" y="1720221"/>
            <a:ext cx="18114765" cy="36874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16400" tIns="158200" rIns="316400" bIns="158200" anchor="t" anchorCtr="0">
            <a:noAutofit/>
          </a:bodyPr>
          <a:lstStyle>
            <a:lvl1pPr marL="457200" lvl="0" indent="-9271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11000"/>
              <a:buChar char="•"/>
              <a:defRPr sz="11000"/>
            </a:lvl1pPr>
            <a:lvl2pPr marL="914400" lvl="1" indent="-844550" algn="l">
              <a:lnSpc>
                <a:spcPct val="100000"/>
              </a:lnSpc>
              <a:spcBef>
                <a:spcPts val="1940"/>
              </a:spcBef>
              <a:spcAft>
                <a:spcPts val="0"/>
              </a:spcAft>
              <a:buClr>
                <a:schemeClr val="dk1"/>
              </a:buClr>
              <a:buSzPts val="9700"/>
              <a:buChar char="–"/>
              <a:defRPr sz="9700"/>
            </a:lvl2pPr>
            <a:lvl3pPr marL="1371600" lvl="2" indent="-755650" algn="l">
              <a:lnSpc>
                <a:spcPct val="100000"/>
              </a:lnSpc>
              <a:spcBef>
                <a:spcPts val="1660"/>
              </a:spcBef>
              <a:spcAft>
                <a:spcPts val="0"/>
              </a:spcAft>
              <a:buClr>
                <a:schemeClr val="dk1"/>
              </a:buClr>
              <a:buSzPts val="8300"/>
              <a:buChar char="•"/>
              <a:defRPr sz="8300"/>
            </a:lvl3pPr>
            <a:lvl4pPr marL="1828800" lvl="3" indent="-67310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7000"/>
              <a:buChar char="–"/>
              <a:defRPr sz="7000"/>
            </a:lvl4pPr>
            <a:lvl5pPr marL="2286000" lvl="4" indent="-67310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7000"/>
              <a:buChar char="»"/>
              <a:defRPr sz="7000"/>
            </a:lvl5pPr>
            <a:lvl6pPr marL="2743200" lvl="5" indent="-67310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7000"/>
              <a:buChar char="•"/>
              <a:defRPr sz="7000"/>
            </a:lvl6pPr>
            <a:lvl7pPr marL="3200400" lvl="6" indent="-67310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7000"/>
              <a:buChar char="•"/>
              <a:defRPr sz="7000"/>
            </a:lvl7pPr>
            <a:lvl8pPr marL="3657600" lvl="7" indent="-67310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7000"/>
              <a:buChar char="•"/>
              <a:defRPr sz="7000"/>
            </a:lvl8pPr>
            <a:lvl9pPr marL="4114800" lvl="8" indent="-67310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7000"/>
              <a:buChar char="•"/>
              <a:defRPr sz="7000"/>
            </a:lvl9pPr>
          </a:lstStyle>
          <a:p>
            <a:endParaRPr/>
          </a:p>
        </p:txBody>
      </p:sp>
      <p:sp>
        <p:nvSpPr>
          <p:cNvPr id="61" name="Google Shape;61;p10"/>
          <p:cNvSpPr txBox="1">
            <a:spLocks noGrp="1"/>
          </p:cNvSpPr>
          <p:nvPr>
            <p:ph type="body" idx="2"/>
          </p:nvPr>
        </p:nvSpPr>
        <p:spPr>
          <a:xfrm>
            <a:off x="1620207" y="9041135"/>
            <a:ext cx="10660709" cy="29553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16400" tIns="158200" rIns="316400" bIns="1582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980"/>
              </a:spcBef>
              <a:spcAft>
                <a:spcPts val="0"/>
              </a:spcAft>
              <a:buClr>
                <a:schemeClr val="dk1"/>
              </a:buClr>
              <a:buSzPts val="4900"/>
              <a:buNone/>
              <a:defRPr sz="4900"/>
            </a:lvl1pPr>
            <a:lvl2pPr marL="914400" lvl="1" indent="-2286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/>
            </a:lvl2pPr>
            <a:lvl3pPr marL="1371600" lvl="2" indent="-228600" algn="l">
              <a:lnSpc>
                <a:spcPct val="100000"/>
              </a:lnSpc>
              <a:spcBef>
                <a:spcPts val="68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3400"/>
            </a:lvl3pPr>
            <a:lvl4pPr marL="1828800" lvl="3" indent="-228600" algn="l">
              <a:lnSpc>
                <a:spcPct val="10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3100"/>
              <a:buNone/>
              <a:defRPr sz="3100"/>
            </a:lvl4pPr>
            <a:lvl5pPr marL="2286000" lvl="4" indent="-228600" algn="l">
              <a:lnSpc>
                <a:spcPct val="10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3100"/>
              <a:buNone/>
              <a:defRPr sz="3100"/>
            </a:lvl5pPr>
            <a:lvl6pPr marL="2743200" lvl="5" indent="-228600" algn="l">
              <a:lnSpc>
                <a:spcPct val="10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3100"/>
              <a:buNone/>
              <a:defRPr sz="3100"/>
            </a:lvl6pPr>
            <a:lvl7pPr marL="3200400" lvl="6" indent="-228600" algn="l">
              <a:lnSpc>
                <a:spcPct val="10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3100"/>
              <a:buNone/>
              <a:defRPr sz="3100"/>
            </a:lvl7pPr>
            <a:lvl8pPr marL="3657600" lvl="7" indent="-228600" algn="l">
              <a:lnSpc>
                <a:spcPct val="10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3100"/>
              <a:buNone/>
              <a:defRPr sz="3100"/>
            </a:lvl8pPr>
            <a:lvl9pPr marL="4114800" lvl="8" indent="-228600" algn="l">
              <a:lnSpc>
                <a:spcPct val="10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3100"/>
              <a:buNone/>
              <a:defRPr sz="3100"/>
            </a:lvl9pPr>
          </a:lstStyle>
          <a:p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dt" idx="10"/>
          </p:nvPr>
        </p:nvSpPr>
        <p:spPr>
          <a:xfrm>
            <a:off x="1620612" y="40045006"/>
            <a:ext cx="7560129" cy="2301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16400" tIns="158200" rIns="316400" bIns="1582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ftr" idx="11"/>
          </p:nvPr>
        </p:nvSpPr>
        <p:spPr>
          <a:xfrm>
            <a:off x="11070774" y="40045006"/>
            <a:ext cx="10262508" cy="2301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16400" tIns="158200" rIns="316400" bIns="1582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sldNum" idx="12"/>
          </p:nvPr>
        </p:nvSpPr>
        <p:spPr>
          <a:xfrm>
            <a:off x="23223314" y="40045006"/>
            <a:ext cx="7560129" cy="2301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16400" tIns="158200" rIns="316400" bIns="1582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m com Legenda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>
            <a:spLocks noGrp="1"/>
          </p:cNvSpPr>
          <p:nvPr>
            <p:ph type="title"/>
          </p:nvPr>
        </p:nvSpPr>
        <p:spPr>
          <a:xfrm>
            <a:off x="6351422" y="30243781"/>
            <a:ext cx="19442430" cy="35704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16400" tIns="158200" rIns="316400" bIns="1582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>
            <a:spLocks noGrp="1"/>
          </p:cNvSpPr>
          <p:nvPr>
            <p:ph type="pic" idx="2"/>
          </p:nvPr>
        </p:nvSpPr>
        <p:spPr>
          <a:xfrm>
            <a:off x="6351422" y="3860484"/>
            <a:ext cx="19442430" cy="2592324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8" name="Google Shape;68;p11"/>
          <p:cNvSpPr txBox="1">
            <a:spLocks noGrp="1"/>
          </p:cNvSpPr>
          <p:nvPr>
            <p:ph type="body" idx="1"/>
          </p:nvPr>
        </p:nvSpPr>
        <p:spPr>
          <a:xfrm>
            <a:off x="6351422" y="33814230"/>
            <a:ext cx="19442430" cy="5070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16400" tIns="158200" rIns="316400" bIns="1582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980"/>
              </a:spcBef>
              <a:spcAft>
                <a:spcPts val="0"/>
              </a:spcAft>
              <a:buClr>
                <a:schemeClr val="dk1"/>
              </a:buClr>
              <a:buSzPts val="4900"/>
              <a:buNone/>
              <a:defRPr sz="4900"/>
            </a:lvl1pPr>
            <a:lvl2pPr marL="914400" lvl="1" indent="-2286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/>
            </a:lvl2pPr>
            <a:lvl3pPr marL="1371600" lvl="2" indent="-228600" algn="l">
              <a:lnSpc>
                <a:spcPct val="100000"/>
              </a:lnSpc>
              <a:spcBef>
                <a:spcPts val="68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3400"/>
            </a:lvl3pPr>
            <a:lvl4pPr marL="1828800" lvl="3" indent="-228600" algn="l">
              <a:lnSpc>
                <a:spcPct val="10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3100"/>
              <a:buNone/>
              <a:defRPr sz="3100"/>
            </a:lvl4pPr>
            <a:lvl5pPr marL="2286000" lvl="4" indent="-228600" algn="l">
              <a:lnSpc>
                <a:spcPct val="10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3100"/>
              <a:buNone/>
              <a:defRPr sz="3100"/>
            </a:lvl5pPr>
            <a:lvl6pPr marL="2743200" lvl="5" indent="-228600" algn="l">
              <a:lnSpc>
                <a:spcPct val="10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3100"/>
              <a:buNone/>
              <a:defRPr sz="3100"/>
            </a:lvl6pPr>
            <a:lvl7pPr marL="3200400" lvl="6" indent="-228600" algn="l">
              <a:lnSpc>
                <a:spcPct val="10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3100"/>
              <a:buNone/>
              <a:defRPr sz="3100"/>
            </a:lvl7pPr>
            <a:lvl8pPr marL="3657600" lvl="7" indent="-228600" algn="l">
              <a:lnSpc>
                <a:spcPct val="10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3100"/>
              <a:buNone/>
              <a:defRPr sz="3100"/>
            </a:lvl8pPr>
            <a:lvl9pPr marL="4114800" lvl="8" indent="-228600" algn="l">
              <a:lnSpc>
                <a:spcPct val="100000"/>
              </a:lnSpc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3100"/>
              <a:buNone/>
              <a:defRPr sz="3100"/>
            </a:lvl9pPr>
          </a:lstStyle>
          <a:p>
            <a:endParaRPr/>
          </a:p>
        </p:txBody>
      </p:sp>
      <p:sp>
        <p:nvSpPr>
          <p:cNvPr id="69" name="Google Shape;69;p11"/>
          <p:cNvSpPr txBox="1">
            <a:spLocks noGrp="1"/>
          </p:cNvSpPr>
          <p:nvPr>
            <p:ph type="dt" idx="10"/>
          </p:nvPr>
        </p:nvSpPr>
        <p:spPr>
          <a:xfrm>
            <a:off x="1620612" y="40045006"/>
            <a:ext cx="7560129" cy="2301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16400" tIns="158200" rIns="316400" bIns="1582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ftr" idx="11"/>
          </p:nvPr>
        </p:nvSpPr>
        <p:spPr>
          <a:xfrm>
            <a:off x="11070774" y="40045006"/>
            <a:ext cx="10262508" cy="2301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16400" tIns="158200" rIns="316400" bIns="1582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sldNum" idx="12"/>
          </p:nvPr>
        </p:nvSpPr>
        <p:spPr>
          <a:xfrm>
            <a:off x="23223314" y="40045006"/>
            <a:ext cx="7560129" cy="2301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16400" tIns="158200" rIns="316400" bIns="1582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l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>
            <a:spLocks noGrp="1"/>
          </p:cNvSpPr>
          <p:nvPr>
            <p:ph type="title"/>
          </p:nvPr>
        </p:nvSpPr>
        <p:spPr>
          <a:xfrm>
            <a:off x="1620613" y="1729741"/>
            <a:ext cx="29162828" cy="72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16400" tIns="158200" rIns="316400" bIns="1582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2"/>
          <p:cNvSpPr txBox="1">
            <a:spLocks noGrp="1"/>
          </p:cNvSpPr>
          <p:nvPr>
            <p:ph type="body" idx="1"/>
          </p:nvPr>
        </p:nvSpPr>
        <p:spPr>
          <a:xfrm rot="5400000">
            <a:off x="1945007" y="9756867"/>
            <a:ext cx="28514040" cy="29162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16400" tIns="158200" rIns="316400" bIns="1582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2"/>
          <p:cNvSpPr txBox="1">
            <a:spLocks noGrp="1"/>
          </p:cNvSpPr>
          <p:nvPr>
            <p:ph type="dt" idx="10"/>
          </p:nvPr>
        </p:nvSpPr>
        <p:spPr>
          <a:xfrm>
            <a:off x="1620612" y="40045006"/>
            <a:ext cx="7560129" cy="2301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16400" tIns="158200" rIns="316400" bIns="1582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ftr" idx="11"/>
          </p:nvPr>
        </p:nvSpPr>
        <p:spPr>
          <a:xfrm>
            <a:off x="11070774" y="40045006"/>
            <a:ext cx="10262508" cy="2301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16400" tIns="158200" rIns="316400" bIns="1582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sldNum" idx="12"/>
          </p:nvPr>
        </p:nvSpPr>
        <p:spPr>
          <a:xfrm>
            <a:off x="23223314" y="40045006"/>
            <a:ext cx="7560129" cy="2301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16400" tIns="158200" rIns="316400" bIns="1582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is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3"/>
          <p:cNvSpPr txBox="1">
            <a:spLocks noGrp="1"/>
          </p:cNvSpPr>
          <p:nvPr>
            <p:ph type="title"/>
          </p:nvPr>
        </p:nvSpPr>
        <p:spPr>
          <a:xfrm rot="5400000">
            <a:off x="8706089" y="16517072"/>
            <a:ext cx="36864608" cy="72909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16400" tIns="158200" rIns="316400" bIns="1582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body" idx="1"/>
          </p:nvPr>
        </p:nvSpPr>
        <p:spPr>
          <a:xfrm rot="5400000">
            <a:off x="-6145767" y="9496194"/>
            <a:ext cx="36864608" cy="21332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16400" tIns="158200" rIns="316400" bIns="1582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dt" idx="10"/>
          </p:nvPr>
        </p:nvSpPr>
        <p:spPr>
          <a:xfrm>
            <a:off x="1620612" y="40045006"/>
            <a:ext cx="7560129" cy="2301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16400" tIns="158200" rIns="316400" bIns="1582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ftr" idx="11"/>
          </p:nvPr>
        </p:nvSpPr>
        <p:spPr>
          <a:xfrm>
            <a:off x="11070774" y="40045006"/>
            <a:ext cx="10262508" cy="2301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16400" tIns="158200" rIns="316400" bIns="1582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sldNum" idx="12"/>
          </p:nvPr>
        </p:nvSpPr>
        <p:spPr>
          <a:xfrm>
            <a:off x="23223314" y="40045006"/>
            <a:ext cx="7560129" cy="2301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16400" tIns="158200" rIns="316400" bIns="1582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title"/>
          </p:nvPr>
        </p:nvSpPr>
        <p:spPr>
          <a:xfrm>
            <a:off x="1620613" y="1729741"/>
            <a:ext cx="29162828" cy="72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16400" tIns="158200" rIns="316400" bIns="1582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5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5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5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5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5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5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5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5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5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body" idx="1"/>
          </p:nvPr>
        </p:nvSpPr>
        <p:spPr>
          <a:xfrm>
            <a:off x="1620613" y="10081261"/>
            <a:ext cx="29162828" cy="285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16400" tIns="158200" rIns="316400" bIns="158200" anchor="t" anchorCtr="0">
            <a:noAutofit/>
          </a:bodyPr>
          <a:lstStyle>
            <a:lvl1pPr marL="457200" marR="0" lvl="0" indent="-9271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11000"/>
              <a:buFont typeface="Arial"/>
              <a:buChar char="•"/>
              <a:defRPr sz="1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844550" algn="l" rtl="0">
              <a:lnSpc>
                <a:spcPct val="100000"/>
              </a:lnSpc>
              <a:spcBef>
                <a:spcPts val="1940"/>
              </a:spcBef>
              <a:spcAft>
                <a:spcPts val="0"/>
              </a:spcAft>
              <a:buClr>
                <a:schemeClr val="dk1"/>
              </a:buClr>
              <a:buSzPts val="9700"/>
              <a:buFont typeface="Arial"/>
              <a:buChar char="–"/>
              <a:defRPr sz="9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755650" algn="l" rtl="0">
              <a:lnSpc>
                <a:spcPct val="100000"/>
              </a:lnSpc>
              <a:spcBef>
                <a:spcPts val="1660"/>
              </a:spcBef>
              <a:spcAft>
                <a:spcPts val="0"/>
              </a:spcAft>
              <a:buClr>
                <a:schemeClr val="dk1"/>
              </a:buClr>
              <a:buSzPts val="8300"/>
              <a:buFont typeface="Arial"/>
              <a:buChar char="•"/>
              <a:defRPr sz="8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6731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rial"/>
              <a:buChar char="–"/>
              <a:defRPr sz="7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6731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rial"/>
              <a:buChar char="»"/>
              <a:defRPr sz="7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6731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rial"/>
              <a:buChar char="•"/>
              <a:defRPr sz="7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6731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rial"/>
              <a:buChar char="•"/>
              <a:defRPr sz="7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6731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rial"/>
              <a:buChar char="•"/>
              <a:defRPr sz="7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6731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rial"/>
              <a:buChar char="•"/>
              <a:defRPr sz="7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1620612" y="40045006"/>
            <a:ext cx="7560129" cy="2301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16400" tIns="158200" rIns="316400" bIns="1582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11070774" y="40045006"/>
            <a:ext cx="10262508" cy="2301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16400" tIns="158200" rIns="316400" bIns="1582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23223314" y="40045006"/>
            <a:ext cx="7560129" cy="2301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16400" tIns="158200" rIns="316400" bIns="1582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jpe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" title="Design sem nom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1"/>
            <a:ext cx="32404050" cy="64808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" title="Design sem nome (1)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825" y="42283275"/>
            <a:ext cx="32321250" cy="8619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2" name="titulo">
            <a:extLst>
              <a:ext uri="{FF2B5EF4-FFF2-40B4-BE49-F238E27FC236}">
                <a16:creationId xmlns:a16="http://schemas.microsoft.com/office/drawing/2014/main" id="{5AE2C698-038A-4098-9470-901453EDE4F9}"/>
              </a:ext>
            </a:extLst>
          </p:cNvPr>
          <p:cNvSpPr>
            <a:spLocks noGrp="1"/>
          </p:cNvSpPr>
          <p:nvPr/>
        </p:nvSpPr>
        <p:spPr>
          <a:xfrm>
            <a:off x="1714500" y="6534602"/>
            <a:ext cx="28956000" cy="1857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6000" b="1">
                <a:solidFill>
                  <a:srgbClr val="3E6395"/>
                </a:solidFill>
                <a:latin typeface="Calibri"/>
                <a:ea typeface="Calibri"/>
                <a:cs typeface="Calibri"/>
              </a:defRPr>
            </a:pPr>
            <a:r>
              <a:rPr lang="pt-BR" sz="6000" b="1" dirty="0">
                <a:solidFill>
                  <a:srgbClr val="3E6395"/>
                </a:solidFill>
                <a:latin typeface="Calibri"/>
                <a:ea typeface="Calibri"/>
                <a:cs typeface="Calibri"/>
              </a:rPr>
              <a:t>Modelagem</a:t>
            </a:r>
            <a:r>
              <a:rPr sz="6000" b="1" dirty="0">
                <a:solidFill>
                  <a:srgbClr val="3E6395"/>
                </a:solidFill>
                <a:latin typeface="Calibri"/>
                <a:ea typeface="Calibri"/>
                <a:cs typeface="Calibri"/>
              </a:rPr>
              <a:t> da diferença de </a:t>
            </a:r>
            <a:r>
              <a:rPr lang="pt-BR" sz="6000" b="1" dirty="0">
                <a:solidFill>
                  <a:srgbClr val="3E6395"/>
                </a:solidFill>
                <a:latin typeface="Calibri"/>
                <a:ea typeface="Calibri"/>
                <a:cs typeface="Calibri"/>
              </a:rPr>
              <a:t>gols por distribuições</a:t>
            </a:r>
            <a:r>
              <a:rPr sz="6000" b="1" dirty="0">
                <a:solidFill>
                  <a:srgbClr val="3E6395"/>
                </a:solidFill>
                <a:latin typeface="Calibri"/>
                <a:ea typeface="Calibri"/>
                <a:cs typeface="Calibri"/>
              </a:rPr>
              <a:t> discretas:</a:t>
            </a:r>
          </a:p>
          <a:p>
            <a:pPr algn="ctr">
              <a:lnSpc>
                <a:spcPct val="108000"/>
              </a:lnSpc>
              <a:buNone/>
              <a:defRPr sz="6000" b="1">
                <a:solidFill>
                  <a:srgbClr val="3E6395"/>
                </a:solidFill>
                <a:latin typeface="Calibri"/>
                <a:ea typeface="Calibri"/>
                <a:cs typeface="Calibri"/>
              </a:defRPr>
            </a:pPr>
            <a:r>
              <a:rPr lang="pt-BR" sz="6000" b="1" dirty="0">
                <a:solidFill>
                  <a:srgbClr val="3E6395"/>
                </a:solidFill>
                <a:latin typeface="Calibri"/>
                <a:ea typeface="Calibri"/>
                <a:cs typeface="Calibri"/>
              </a:rPr>
              <a:t>uma</a:t>
            </a:r>
            <a:r>
              <a:rPr sz="6000" b="1" dirty="0">
                <a:solidFill>
                  <a:srgbClr val="3E6395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pt-BR" sz="6000" b="1" dirty="0">
                <a:solidFill>
                  <a:srgbClr val="3E6395"/>
                </a:solidFill>
                <a:latin typeface="Calibri"/>
                <a:ea typeface="Calibri"/>
                <a:cs typeface="Calibri"/>
              </a:rPr>
              <a:t>aplicação</a:t>
            </a:r>
            <a:r>
              <a:rPr sz="6000" b="1" dirty="0">
                <a:solidFill>
                  <a:srgbClr val="3E6395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pt-BR" sz="6000" b="1" dirty="0">
                <a:solidFill>
                  <a:srgbClr val="3E6395"/>
                </a:solidFill>
                <a:latin typeface="Calibri"/>
                <a:ea typeface="Calibri"/>
                <a:cs typeface="Calibri"/>
              </a:rPr>
              <a:t>ao</a:t>
            </a:r>
            <a:r>
              <a:rPr sz="6000" b="1" dirty="0">
                <a:solidFill>
                  <a:srgbClr val="3E6395"/>
                </a:solidFill>
                <a:latin typeface="Calibri"/>
                <a:ea typeface="Calibri"/>
                <a:cs typeface="Calibri"/>
              </a:rPr>
              <a:t> Campeonato Brasileiro</a:t>
            </a:r>
          </a:p>
        </p:txBody>
      </p:sp>
      <p:sp>
        <p:nvSpPr>
          <p:cNvPr id="1002" name="autores">
            <a:extLst>
              <a:ext uri="{FF2B5EF4-FFF2-40B4-BE49-F238E27FC236}">
                <a16:creationId xmlns:a16="http://schemas.microsoft.com/office/drawing/2014/main" id="{41929B56-4C7D-4C04-AD6E-B8A77BD08C9E}"/>
              </a:ext>
            </a:extLst>
          </p:cNvPr>
          <p:cNvSpPr>
            <a:spLocks noGrp="1"/>
          </p:cNvSpPr>
          <p:nvPr/>
        </p:nvSpPr>
        <p:spPr>
          <a:xfrm>
            <a:off x="1714500" y="8545236"/>
            <a:ext cx="28956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32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200" b="1" dirty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Lucas Pereira Belo¹*,</a:t>
            </a:r>
            <a:r>
              <a:rPr lang="pt-BR" sz="3200" b="1" dirty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pt-BR" sz="3200" dirty="0"/>
              <a:t>Jonas Firmiano da Silva¹,</a:t>
            </a:r>
            <a:r>
              <a:rPr sz="3200" b="1" dirty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Kamilla Andrade de Oliveira², Paulo César Emiliano</a:t>
            </a:r>
            <a:r>
              <a:rPr lang="pt-BR" sz="3200" b="1" dirty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³</a:t>
            </a:r>
            <a:endParaRPr sz="3200" b="1" dirty="0">
              <a:solidFill>
                <a:srgbClr val="11111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03" name="afiliacoes">
            <a:extLst>
              <a:ext uri="{FF2B5EF4-FFF2-40B4-BE49-F238E27FC236}">
                <a16:creationId xmlns:a16="http://schemas.microsoft.com/office/drawing/2014/main" id="{3BF8149C-51F9-4478-93C8-FF49BB37201F}"/>
              </a:ext>
            </a:extLst>
          </p:cNvPr>
          <p:cNvSpPr>
            <a:spLocks noGrp="1"/>
          </p:cNvSpPr>
          <p:nvPr/>
        </p:nvSpPr>
        <p:spPr>
          <a:xfrm>
            <a:off x="1714500" y="9127746"/>
            <a:ext cx="28956000" cy="1743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27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700" b="0" dirty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¹ Univer</a:t>
            </a:r>
            <a:r>
              <a:rPr lang="pt-BR" sz="2700" b="0" dirty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sidade</a:t>
            </a:r>
            <a:r>
              <a:rPr sz="2700" b="0" dirty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Federal de Vi</a:t>
            </a:r>
            <a:r>
              <a:rPr lang="pt-BR" sz="2700" b="0" dirty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çosa</a:t>
            </a:r>
            <a:r>
              <a:rPr sz="2700" b="0" dirty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, Departamento de E</a:t>
            </a:r>
            <a:r>
              <a:rPr lang="pt-BR" sz="2700" b="0" dirty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statística</a:t>
            </a:r>
            <a:endParaRPr sz="2700" b="0" dirty="0">
              <a:solidFill>
                <a:srgbClr val="111111"/>
              </a:solidFill>
              <a:latin typeface="Calibri"/>
              <a:ea typeface="Calibri"/>
              <a:cs typeface="Calibri"/>
            </a:endParaRPr>
          </a:p>
          <a:p>
            <a:pPr algn="ctr">
              <a:lnSpc>
                <a:spcPct val="108000"/>
              </a:lnSpc>
              <a:buNone/>
              <a:defRPr sz="27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700" b="0" dirty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² Un</a:t>
            </a:r>
            <a:r>
              <a:rPr lang="pt-BR" sz="2700" b="0" dirty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iversidade</a:t>
            </a:r>
            <a:r>
              <a:rPr sz="2700" b="0" dirty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Federal do Maranhão, Departamento de En</a:t>
            </a:r>
            <a:r>
              <a:rPr lang="pt-BR" sz="2700" b="0" dirty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genharia</a:t>
            </a:r>
            <a:r>
              <a:rPr sz="2700" b="0" dirty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Agrícola</a:t>
            </a:r>
            <a:endParaRPr lang="pt-BR" sz="2700" b="0" dirty="0">
              <a:solidFill>
                <a:srgbClr val="111111"/>
              </a:solidFill>
              <a:latin typeface="Calibri"/>
              <a:ea typeface="Calibri"/>
              <a:cs typeface="Calibri"/>
            </a:endParaRPr>
          </a:p>
          <a:p>
            <a:pPr algn="ctr">
              <a:lnSpc>
                <a:spcPct val="108000"/>
              </a:lnSpc>
              <a:defRPr sz="27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lang="pt-BR" sz="2700" dirty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³ Universidade Federal de Viçosa, Departamento de Estatística</a:t>
            </a:r>
            <a:endParaRPr sz="2700" b="0" dirty="0">
              <a:solidFill>
                <a:srgbClr val="111111"/>
              </a:solidFill>
              <a:latin typeface="Calibri"/>
              <a:ea typeface="Calibri"/>
              <a:cs typeface="Calibri"/>
            </a:endParaRPr>
          </a:p>
          <a:p>
            <a:pPr algn="ctr">
              <a:lnSpc>
                <a:spcPct val="108000"/>
              </a:lnSpc>
              <a:buNone/>
              <a:defRPr sz="27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lang="pt-BR" sz="2700" b="1" baseline="30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pt-BR" sz="2700" baseline="30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27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Discente do Programa de Pós graduação em estatística aplicada e biometria, </a:t>
            </a:r>
            <a:r>
              <a:rPr sz="2700" b="0" dirty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* lucas.p.belo@ufv.br</a:t>
            </a:r>
          </a:p>
        </p:txBody>
      </p:sp>
      <p:sp>
        <p:nvSpPr>
          <p:cNvPr id="1004" name="divisor-central">
            <a:extLst>
              <a:ext uri="{FF2B5EF4-FFF2-40B4-BE49-F238E27FC236}">
                <a16:creationId xmlns:a16="http://schemas.microsoft.com/office/drawing/2014/main" id="{E1E0A700-9A6D-4273-B7B0-402A00967252}"/>
              </a:ext>
            </a:extLst>
          </p:cNvPr>
          <p:cNvSpPr>
            <a:spLocks noGrp="1"/>
          </p:cNvSpPr>
          <p:nvPr/>
        </p:nvSpPr>
        <p:spPr>
          <a:xfrm>
            <a:off x="15554325" y="11334750"/>
            <a:ext cx="0" cy="30289500"/>
          </a:xfrm>
          <a:prstGeom prst="line">
            <a:avLst/>
          </a:prstGeom>
          <a:noFill/>
          <a:ln w="38100">
            <a:solidFill>
              <a:srgbClr val="3E6395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005" name="intro">
            <a:extLst>
              <a:ext uri="{FF2B5EF4-FFF2-40B4-BE49-F238E27FC236}">
                <a16:creationId xmlns:a16="http://schemas.microsoft.com/office/drawing/2014/main" id="{209A7C0A-A52A-4352-8407-51782ACE6EB0}"/>
              </a:ext>
            </a:extLst>
          </p:cNvPr>
          <p:cNvSpPr>
            <a:spLocks noGrp="1"/>
          </p:cNvSpPr>
          <p:nvPr/>
        </p:nvSpPr>
        <p:spPr>
          <a:xfrm>
            <a:off x="1000125" y="11334750"/>
            <a:ext cx="133350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4400" b="1">
                <a:solidFill>
                  <a:srgbClr val="3E6395"/>
                </a:solidFill>
                <a:latin typeface="Calibri"/>
                <a:ea typeface="Calibri"/>
                <a:cs typeface="Calibri"/>
              </a:defRPr>
            </a:pPr>
            <a:r>
              <a:rPr sz="4400" b="1">
                <a:solidFill>
                  <a:srgbClr val="3E6395"/>
                </a:solidFill>
                <a:latin typeface="Calibri"/>
                <a:ea typeface="Calibri"/>
                <a:cs typeface="Calibri"/>
              </a:rPr>
              <a:t>INTRODUÇÃO</a:t>
            </a:r>
          </a:p>
        </p:txBody>
      </p:sp>
      <p:sp>
        <p:nvSpPr>
          <p:cNvPr id="1006" name="intro-rule">
            <a:extLst>
              <a:ext uri="{FF2B5EF4-FFF2-40B4-BE49-F238E27FC236}">
                <a16:creationId xmlns:a16="http://schemas.microsoft.com/office/drawing/2014/main" id="{21FF64DE-68E5-4A99-B8C7-82FC23FF2391}"/>
              </a:ext>
            </a:extLst>
          </p:cNvPr>
          <p:cNvSpPr>
            <a:spLocks noGrp="1"/>
          </p:cNvSpPr>
          <p:nvPr/>
        </p:nvSpPr>
        <p:spPr>
          <a:xfrm>
            <a:off x="1000125" y="12115800"/>
            <a:ext cx="13335000" cy="0"/>
          </a:xfrm>
          <a:prstGeom prst="line">
            <a:avLst/>
          </a:prstGeom>
          <a:noFill/>
          <a:ln w="38100">
            <a:solidFill>
              <a:srgbClr val="3E6395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007" name="intro-text">
            <a:extLst>
              <a:ext uri="{FF2B5EF4-FFF2-40B4-BE49-F238E27FC236}">
                <a16:creationId xmlns:a16="http://schemas.microsoft.com/office/drawing/2014/main" id="{EA6A5FBF-343A-493D-BF4C-3B9140618BDC}"/>
              </a:ext>
            </a:extLst>
          </p:cNvPr>
          <p:cNvSpPr>
            <a:spLocks noGrp="1"/>
          </p:cNvSpPr>
          <p:nvPr/>
        </p:nvSpPr>
        <p:spPr>
          <a:xfrm>
            <a:off x="1000106" y="12266771"/>
            <a:ext cx="13335000" cy="27558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just">
              <a:lnSpc>
                <a:spcPct val="108000"/>
              </a:lnSpc>
              <a:buNone/>
              <a:defRPr sz="36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200" b="0" dirty="0">
                <a:solidFill>
                  <a:srgbClr val="11111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A </a:t>
            </a:r>
            <a:r>
              <a:rPr lang="pt-BR" sz="3200" dirty="0">
                <a:solidFill>
                  <a:srgbClr val="11111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diferença</a:t>
            </a:r>
            <a:r>
              <a:rPr sz="3200" b="0" dirty="0">
                <a:solidFill>
                  <a:srgbClr val="11111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 </a:t>
            </a:r>
            <a:r>
              <a:rPr lang="pt-BR" sz="3200" b="0" dirty="0">
                <a:solidFill>
                  <a:srgbClr val="11111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entre</a:t>
            </a:r>
            <a:r>
              <a:rPr sz="3200" b="0" dirty="0">
                <a:solidFill>
                  <a:srgbClr val="11111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 </a:t>
            </a:r>
            <a:r>
              <a:rPr lang="pt-BR" sz="3200" b="0" dirty="0">
                <a:solidFill>
                  <a:srgbClr val="11111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os</a:t>
            </a:r>
            <a:r>
              <a:rPr sz="3200" b="0" dirty="0">
                <a:solidFill>
                  <a:srgbClr val="11111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 </a:t>
            </a:r>
            <a:r>
              <a:rPr lang="pt-BR" sz="3200" b="0" dirty="0">
                <a:solidFill>
                  <a:srgbClr val="11111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gols</a:t>
            </a:r>
            <a:r>
              <a:rPr sz="3200" b="0" dirty="0">
                <a:solidFill>
                  <a:srgbClr val="11111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 de</a:t>
            </a:r>
            <a:r>
              <a:rPr lang="pt-BR" sz="3200" b="0" dirty="0">
                <a:solidFill>
                  <a:srgbClr val="11111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 mandantes</a:t>
            </a:r>
            <a:r>
              <a:rPr sz="3200" b="0" dirty="0">
                <a:solidFill>
                  <a:srgbClr val="11111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 e </a:t>
            </a:r>
            <a:r>
              <a:rPr lang="pt-BR" sz="3200" dirty="0">
                <a:solidFill>
                  <a:srgbClr val="11111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visitantes</a:t>
            </a:r>
            <a:r>
              <a:rPr sz="3200" b="0" dirty="0">
                <a:solidFill>
                  <a:srgbClr val="11111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,</a:t>
            </a:r>
            <a:r>
              <a:rPr lang="pt-BR" sz="3200" b="0" dirty="0">
                <a:solidFill>
                  <a:srgbClr val="11111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 agregada</a:t>
            </a:r>
            <a:r>
              <a:rPr lang="pt-BR" sz="3200" dirty="0">
                <a:solidFill>
                  <a:srgbClr val="11111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 por rodada</a:t>
            </a:r>
            <a:r>
              <a:rPr sz="3200" b="0" dirty="0">
                <a:solidFill>
                  <a:srgbClr val="11111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, </a:t>
            </a:r>
            <a:r>
              <a:rPr lang="pt-BR" sz="3200" b="0" dirty="0">
                <a:solidFill>
                  <a:srgbClr val="11111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permite descrever o saldo de gols associado ao mando de campo.</a:t>
            </a:r>
            <a:r>
              <a:rPr sz="3200" b="0" dirty="0">
                <a:solidFill>
                  <a:srgbClr val="11111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 Como </a:t>
            </a:r>
            <a:r>
              <a:rPr lang="pt-BR" sz="3200" b="0" dirty="0">
                <a:solidFill>
                  <a:srgbClr val="11111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essa</a:t>
            </a:r>
            <a:r>
              <a:rPr sz="3200" b="0" dirty="0">
                <a:solidFill>
                  <a:srgbClr val="11111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 </a:t>
            </a:r>
            <a:r>
              <a:rPr lang="pt-BR" sz="3200" b="0" dirty="0">
                <a:solidFill>
                  <a:srgbClr val="11111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variável</a:t>
            </a:r>
            <a:r>
              <a:rPr sz="3200" b="0" dirty="0">
                <a:solidFill>
                  <a:srgbClr val="11111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 assume </a:t>
            </a:r>
            <a:r>
              <a:rPr lang="pt-BR" sz="3200" dirty="0">
                <a:solidFill>
                  <a:srgbClr val="11111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valores inteiros</a:t>
            </a:r>
            <a:r>
              <a:rPr sz="3200" b="0" dirty="0">
                <a:solidFill>
                  <a:srgbClr val="11111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 </a:t>
            </a:r>
            <a:r>
              <a:rPr lang="pt-BR" sz="3200" b="0" dirty="0">
                <a:solidFill>
                  <a:srgbClr val="11111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positivos</a:t>
            </a:r>
            <a:r>
              <a:rPr sz="3200" b="0" dirty="0">
                <a:solidFill>
                  <a:srgbClr val="11111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, </a:t>
            </a:r>
            <a:r>
              <a:rPr lang="pt-BR" sz="3200" b="0" dirty="0">
                <a:solidFill>
                  <a:srgbClr val="11111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nulos ou negativos</a:t>
            </a:r>
            <a:r>
              <a:rPr sz="3200" b="0" dirty="0">
                <a:solidFill>
                  <a:srgbClr val="11111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,</a:t>
            </a:r>
            <a:r>
              <a:rPr lang="pt-BR" sz="3200" b="0" dirty="0">
                <a:solidFill>
                  <a:srgbClr val="11111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 sua modelagem requer</a:t>
            </a:r>
            <a:r>
              <a:rPr lang="pt-BR" sz="3200" dirty="0">
                <a:solidFill>
                  <a:srgbClr val="11111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 distribuições</a:t>
            </a:r>
            <a:r>
              <a:rPr sz="3200" b="0" dirty="0">
                <a:solidFill>
                  <a:srgbClr val="11111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 discretas </a:t>
            </a:r>
            <a:r>
              <a:rPr lang="pt-BR" sz="3200" dirty="0">
                <a:solidFill>
                  <a:srgbClr val="11111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capazes</a:t>
            </a:r>
            <a:r>
              <a:rPr sz="3200" b="0" dirty="0">
                <a:solidFill>
                  <a:srgbClr val="11111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 de</a:t>
            </a:r>
            <a:r>
              <a:rPr lang="pt-BR" sz="3200" b="0" dirty="0">
                <a:solidFill>
                  <a:srgbClr val="11111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 representar sua localização, dispersão e assimetria.</a:t>
            </a:r>
            <a:r>
              <a:rPr sz="3200" b="0" dirty="0">
                <a:solidFill>
                  <a:srgbClr val="11111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 </a:t>
            </a:r>
          </a:p>
        </p:txBody>
      </p:sp>
      <p:sp>
        <p:nvSpPr>
          <p:cNvPr id="1008" name="objetivo">
            <a:extLst>
              <a:ext uri="{FF2B5EF4-FFF2-40B4-BE49-F238E27FC236}">
                <a16:creationId xmlns:a16="http://schemas.microsoft.com/office/drawing/2014/main" id="{6197D10D-A8F6-4DC2-AD10-7E4F4A59B6ED}"/>
              </a:ext>
            </a:extLst>
          </p:cNvPr>
          <p:cNvSpPr>
            <a:spLocks noGrp="1"/>
          </p:cNvSpPr>
          <p:nvPr/>
        </p:nvSpPr>
        <p:spPr>
          <a:xfrm>
            <a:off x="1000106" y="15042578"/>
            <a:ext cx="133350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4400" b="1">
                <a:solidFill>
                  <a:srgbClr val="3E6395"/>
                </a:solidFill>
                <a:latin typeface="Calibri"/>
                <a:ea typeface="Calibri"/>
                <a:cs typeface="Calibri"/>
              </a:defRPr>
            </a:pPr>
            <a:r>
              <a:rPr sz="4400" b="1" dirty="0">
                <a:solidFill>
                  <a:srgbClr val="3E6395"/>
                </a:solidFill>
                <a:latin typeface="Calibri"/>
                <a:ea typeface="Calibri"/>
                <a:cs typeface="Calibri"/>
              </a:rPr>
              <a:t>OBJETIVO</a:t>
            </a:r>
          </a:p>
        </p:txBody>
      </p:sp>
      <p:sp>
        <p:nvSpPr>
          <p:cNvPr id="1009" name="objetivo-rule">
            <a:extLst>
              <a:ext uri="{FF2B5EF4-FFF2-40B4-BE49-F238E27FC236}">
                <a16:creationId xmlns:a16="http://schemas.microsoft.com/office/drawing/2014/main" id="{1CA627B8-5F0A-440D-AFA8-4B5FB399C2D8}"/>
              </a:ext>
            </a:extLst>
          </p:cNvPr>
          <p:cNvSpPr>
            <a:spLocks noGrp="1"/>
          </p:cNvSpPr>
          <p:nvPr/>
        </p:nvSpPr>
        <p:spPr>
          <a:xfrm>
            <a:off x="1000106" y="15804578"/>
            <a:ext cx="13335000" cy="0"/>
          </a:xfrm>
          <a:prstGeom prst="line">
            <a:avLst/>
          </a:prstGeom>
          <a:noFill/>
          <a:ln w="38100">
            <a:solidFill>
              <a:srgbClr val="3E6395"/>
            </a:solidFill>
          </a:ln>
        </p:spPr>
        <p:txBody>
          <a:bodyPr/>
          <a:lstStyle/>
          <a:p>
            <a:endParaRPr lang="pt-BR" dirty="0"/>
          </a:p>
        </p:txBody>
      </p:sp>
      <p:sp>
        <p:nvSpPr>
          <p:cNvPr id="1010" name="objetivo-text">
            <a:extLst>
              <a:ext uri="{FF2B5EF4-FFF2-40B4-BE49-F238E27FC236}">
                <a16:creationId xmlns:a16="http://schemas.microsoft.com/office/drawing/2014/main" id="{EAB016A1-78C5-44BB-9901-01509B7537E3}"/>
              </a:ext>
            </a:extLst>
          </p:cNvPr>
          <p:cNvSpPr>
            <a:spLocks noGrp="1"/>
          </p:cNvSpPr>
          <p:nvPr/>
        </p:nvSpPr>
        <p:spPr>
          <a:xfrm>
            <a:off x="1019175" y="15846216"/>
            <a:ext cx="13335000" cy="110128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6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200" b="0" dirty="0">
                <a:solidFill>
                  <a:srgbClr val="11111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C</a:t>
            </a:r>
            <a:r>
              <a:rPr lang="pt-BR" sz="3200" b="0" dirty="0">
                <a:solidFill>
                  <a:srgbClr val="11111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omparar</a:t>
            </a:r>
            <a:r>
              <a:rPr sz="3200" b="0" dirty="0">
                <a:solidFill>
                  <a:srgbClr val="11111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 </a:t>
            </a:r>
            <a:r>
              <a:rPr lang="pt-BR" sz="3200" b="0" dirty="0">
                <a:solidFill>
                  <a:srgbClr val="11111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quatro</a:t>
            </a:r>
            <a:r>
              <a:rPr sz="3200" b="0" dirty="0">
                <a:solidFill>
                  <a:srgbClr val="11111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 dis</a:t>
            </a:r>
            <a:r>
              <a:rPr lang="pt-BR" sz="3200" b="0" dirty="0">
                <a:solidFill>
                  <a:srgbClr val="11111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tribuições</a:t>
            </a:r>
            <a:r>
              <a:rPr sz="3200" b="0" dirty="0">
                <a:solidFill>
                  <a:srgbClr val="11111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 discretas para </a:t>
            </a:r>
            <a:r>
              <a:rPr lang="pt-BR" sz="3200" dirty="0">
                <a:solidFill>
                  <a:srgbClr val="11111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descrever</a:t>
            </a:r>
            <a:r>
              <a:rPr sz="3200" b="0" dirty="0">
                <a:solidFill>
                  <a:srgbClr val="11111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 a diferença de </a:t>
            </a:r>
            <a:r>
              <a:rPr lang="pt-BR" sz="3200" dirty="0">
                <a:solidFill>
                  <a:srgbClr val="11111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gols</a:t>
            </a:r>
            <a:r>
              <a:rPr sz="3200" b="0" dirty="0">
                <a:solidFill>
                  <a:srgbClr val="11111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 </a:t>
            </a:r>
            <a:r>
              <a:rPr lang="pt-BR" sz="3200" b="0" dirty="0">
                <a:solidFill>
                  <a:srgbClr val="11111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por</a:t>
            </a:r>
            <a:r>
              <a:rPr sz="3200" b="0" dirty="0">
                <a:solidFill>
                  <a:srgbClr val="11111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 </a:t>
            </a:r>
            <a:r>
              <a:rPr lang="pt-BR" sz="3200" b="0" dirty="0">
                <a:solidFill>
                  <a:srgbClr val="11111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rodada</a:t>
            </a:r>
            <a:r>
              <a:rPr sz="3200" b="0" dirty="0">
                <a:solidFill>
                  <a:srgbClr val="11111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 do Campeonato Brasileiro da Série A entre 2006 e 2025.</a:t>
            </a:r>
          </a:p>
        </p:txBody>
      </p:sp>
      <p:sp>
        <p:nvSpPr>
          <p:cNvPr id="1011" name="metodo">
            <a:extLst>
              <a:ext uri="{FF2B5EF4-FFF2-40B4-BE49-F238E27FC236}">
                <a16:creationId xmlns:a16="http://schemas.microsoft.com/office/drawing/2014/main" id="{E977B5E8-21F9-4D93-9F54-9ED5211A340C}"/>
              </a:ext>
            </a:extLst>
          </p:cNvPr>
          <p:cNvSpPr>
            <a:spLocks noGrp="1"/>
          </p:cNvSpPr>
          <p:nvPr/>
        </p:nvSpPr>
        <p:spPr>
          <a:xfrm>
            <a:off x="1000106" y="16939699"/>
            <a:ext cx="133350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4400" b="1">
                <a:solidFill>
                  <a:srgbClr val="3E6395"/>
                </a:solidFill>
                <a:latin typeface="Calibri"/>
                <a:ea typeface="Calibri"/>
                <a:cs typeface="Calibri"/>
              </a:defRPr>
            </a:pPr>
            <a:r>
              <a:rPr sz="4400" b="1" dirty="0">
                <a:solidFill>
                  <a:srgbClr val="3E6395"/>
                </a:solidFill>
                <a:latin typeface="Calibri"/>
                <a:ea typeface="Calibri"/>
                <a:cs typeface="Calibri"/>
              </a:rPr>
              <a:t>METODOLOGIA</a:t>
            </a:r>
          </a:p>
        </p:txBody>
      </p:sp>
      <p:sp>
        <p:nvSpPr>
          <p:cNvPr id="1012" name="metodo-rule">
            <a:extLst>
              <a:ext uri="{FF2B5EF4-FFF2-40B4-BE49-F238E27FC236}">
                <a16:creationId xmlns:a16="http://schemas.microsoft.com/office/drawing/2014/main" id="{F2E3913A-311E-41DD-8979-287DE5D2A2DC}"/>
              </a:ext>
            </a:extLst>
          </p:cNvPr>
          <p:cNvSpPr>
            <a:spLocks noGrp="1"/>
          </p:cNvSpPr>
          <p:nvPr/>
        </p:nvSpPr>
        <p:spPr>
          <a:xfrm>
            <a:off x="1000106" y="17618926"/>
            <a:ext cx="13335000" cy="0"/>
          </a:xfrm>
          <a:prstGeom prst="line">
            <a:avLst/>
          </a:prstGeom>
          <a:noFill/>
          <a:ln w="38100">
            <a:solidFill>
              <a:srgbClr val="3E6395"/>
            </a:solidFill>
          </a:ln>
        </p:spPr>
        <p:txBody>
          <a:bodyPr/>
          <a:lstStyle/>
          <a:p>
            <a:endParaRPr lang="pt-BR" dirty="0"/>
          </a:p>
        </p:txBody>
      </p:sp>
      <p:sp>
        <p:nvSpPr>
          <p:cNvPr id="1013" name="dados">
            <a:extLst>
              <a:ext uri="{FF2B5EF4-FFF2-40B4-BE49-F238E27FC236}">
                <a16:creationId xmlns:a16="http://schemas.microsoft.com/office/drawing/2014/main" id="{2BF9277E-9313-4FE7-8F21-63CE11D68DFE}"/>
              </a:ext>
            </a:extLst>
          </p:cNvPr>
          <p:cNvSpPr>
            <a:spLocks noGrp="1"/>
          </p:cNvSpPr>
          <p:nvPr/>
        </p:nvSpPr>
        <p:spPr>
          <a:xfrm>
            <a:off x="1019175" y="17693856"/>
            <a:ext cx="13335000" cy="360317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just">
              <a:lnSpc>
                <a:spcPct val="108000"/>
              </a:lnSpc>
              <a:defRPr sz="36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lang="pt-BR" sz="3200" b="0" dirty="0">
                <a:solidFill>
                  <a:srgbClr val="11111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Os </a:t>
            </a:r>
            <a:r>
              <a:rPr lang="pt-BR" sz="3200" dirty="0">
                <a:solidFill>
                  <a:srgbClr val="11111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d</a:t>
            </a:r>
            <a:r>
              <a:rPr sz="3200" b="0" dirty="0">
                <a:solidFill>
                  <a:srgbClr val="11111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ad</a:t>
            </a:r>
            <a:r>
              <a:rPr lang="pt-BR" sz="3200" b="0" dirty="0">
                <a:solidFill>
                  <a:srgbClr val="11111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os foram obtidos de </a:t>
            </a:r>
            <a:r>
              <a:rPr lang="pt-BR" sz="3200" dirty="0">
                <a:solidFill>
                  <a:srgbClr val="11111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Duque (2025) </a:t>
            </a:r>
            <a:r>
              <a:rPr lang="pt-BR" sz="3200" dirty="0">
                <a:latin typeface="Cambria Math" panose="02040503050406030204" pitchFamily="18" charset="0"/>
                <a:ea typeface="Cambria Math" panose="02040503050406030204" pitchFamily="18" charset="0"/>
              </a:rPr>
              <a:t>e referem-se, ao número de gols marcados pelos mandantes e pelos visitantes em cada uma das 38 rodadas do campeonato brasileiro para os anos de 2006 a 2025. Ao efetuar a diferença entre estas variáveis obteve-se a variável sob estudo que é a diferença entre o número de gols marcados pelos mandantes e os visitantes. O período escolhido refere-se aos campeonatos que contaram com a presença de 20 equipes com 380 jogos por ano (exceção feita a 2016 que teve 379 jogos).</a:t>
            </a:r>
            <a:endParaRPr sz="3200" b="0" dirty="0">
              <a:solidFill>
                <a:srgbClr val="111111"/>
              </a:solidFill>
              <a:latin typeface="Cambria Math" panose="02040503050406030204" pitchFamily="18" charset="0"/>
              <a:ea typeface="Cambria Math" panose="02040503050406030204" pitchFamily="18" charset="0"/>
              <a:cs typeface="Calibri"/>
            </a:endParaRPr>
          </a:p>
        </p:txBody>
      </p:sp>
      <p:sp>
        <p:nvSpPr>
          <p:cNvPr id="1015" name="normal-name">
            <a:extLst>
              <a:ext uri="{FF2B5EF4-FFF2-40B4-BE49-F238E27FC236}">
                <a16:creationId xmlns:a16="http://schemas.microsoft.com/office/drawing/2014/main" id="{A8046F0E-B48F-4B64-926D-5CFE0FCE1CEB}"/>
              </a:ext>
            </a:extLst>
          </p:cNvPr>
          <p:cNvSpPr>
            <a:spLocks noGrp="1"/>
          </p:cNvSpPr>
          <p:nvPr/>
        </p:nvSpPr>
        <p:spPr>
          <a:xfrm>
            <a:off x="1019175" y="22079408"/>
            <a:ext cx="13335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600" b="1">
                <a:solidFill>
                  <a:srgbClr val="3E6395"/>
                </a:solidFill>
                <a:latin typeface="Calibri"/>
                <a:ea typeface="Calibri"/>
                <a:cs typeface="Calibri"/>
              </a:defRPr>
            </a:pPr>
            <a:r>
              <a:rPr sz="3600" b="1" dirty="0">
                <a:solidFill>
                  <a:srgbClr val="3E6395"/>
                </a:solidFill>
                <a:latin typeface="Calibri"/>
                <a:ea typeface="Calibri"/>
                <a:cs typeface="Calibri"/>
              </a:rPr>
              <a:t>Normal </a:t>
            </a:r>
            <a:r>
              <a:rPr lang="pt-BR" sz="3600" b="1" dirty="0">
                <a:solidFill>
                  <a:srgbClr val="3E6395"/>
                </a:solidFill>
                <a:latin typeface="Calibri"/>
                <a:ea typeface="Calibri"/>
                <a:cs typeface="Calibri"/>
              </a:rPr>
              <a:t>discreta</a:t>
            </a:r>
            <a:endParaRPr sz="3600" b="1" dirty="0">
              <a:solidFill>
                <a:srgbClr val="3E6395"/>
              </a:solidFill>
              <a:latin typeface="Calibri"/>
              <a:ea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16" name="normal-def">
                <a:extLst>
                  <a:ext uri="{FF2B5EF4-FFF2-40B4-BE49-F238E27FC236}">
                    <a16:creationId xmlns:a16="http://schemas.microsoft.com/office/drawing/2014/main" id="{CDF91B70-E832-41DA-8C1F-16B324B8DFA1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019184" y="22931869"/>
                <a:ext cx="13334991" cy="302997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t">
                <a:noAutofit/>
              </a:bodyPr>
              <a:lstStyle/>
              <a:p>
                <a:pPr algn="just">
                  <a:lnSpc>
                    <a:spcPct val="108000"/>
                  </a:lnSpc>
                  <a:defRPr sz="3600" b="0">
                    <a:solidFill>
                      <a:srgbClr val="111111"/>
                    </a:solidFill>
                    <a:latin typeface="Calibri"/>
                    <a:ea typeface="Calibri"/>
                    <a:cs typeface="Calibri"/>
                  </a:defRPr>
                </a:pPr>
                <a:r>
                  <a:rPr lang="pt-BR" sz="3200" b="0" dirty="0">
                    <a:solidFill>
                      <a:srgbClr val="11111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Calibri"/>
                  </a:rPr>
                  <a:t>Se X é uma variável aleatória com distribuição Normal de média </a:t>
                </a:r>
                <a14:m>
                  <m:oMath xmlns:m="http://schemas.openxmlformats.org/officeDocument/2006/math">
                    <m:r>
                      <a:rPr lang="pt-BR" sz="3200" b="0" i="1" smtClean="0">
                        <a:solidFill>
                          <a:srgbClr val="11111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/>
                      </a:rPr>
                      <m:t>𝜇</m:t>
                    </m:r>
                  </m:oMath>
                </a14:m>
                <a:r>
                  <a:rPr lang="pt-BR" sz="3200" b="0" dirty="0">
                    <a:solidFill>
                      <a:srgbClr val="11111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Calibri"/>
                  </a:rPr>
                  <a:t> e variância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3200" b="0" i="1" smtClean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/>
                          </a:rPr>
                        </m:ctrlPr>
                      </m:sSupPr>
                      <m:e>
                        <m:r>
                          <a:rPr lang="pt-BR" sz="3200" b="0" i="1" smtClean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/>
                          </a:rPr>
                          <m:t>𝜎</m:t>
                        </m:r>
                      </m:e>
                      <m:sup>
                        <m:r>
                          <a:rPr lang="pt-BR" sz="3200" b="0" i="1" smtClean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/>
                          </a:rPr>
                          <m:t>2</m:t>
                        </m:r>
                      </m:sup>
                    </m:sSup>
                  </m:oMath>
                </a14:m>
                <a:r>
                  <a:rPr lang="pt-BR" sz="3200" b="0" dirty="0">
                    <a:solidFill>
                      <a:srgbClr val="11111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Calibri"/>
                  </a:rPr>
                  <a:t>, isto é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sz="3200" b="0" i="1" smtClean="0">
                        <a:solidFill>
                          <a:srgbClr val="11111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/>
                      </a:rPr>
                      <m:t>X</m:t>
                    </m:r>
                    <m:r>
                      <a:rPr lang="pt-BR" sz="3200" b="0" i="1" smtClean="0">
                        <a:solidFill>
                          <a:srgbClr val="11111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/>
                      </a:rPr>
                      <m:t>~</m:t>
                    </m:r>
                    <m:r>
                      <m:rPr>
                        <m:sty m:val="p"/>
                      </m:rPr>
                      <a:rPr lang="pt-BR" sz="3200" b="0" i="1" smtClean="0">
                        <a:solidFill>
                          <a:srgbClr val="11111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/>
                      </a:rPr>
                      <m:t>N</m:t>
                    </m:r>
                    <m:d>
                      <m:dPr>
                        <m:ctrlPr>
                          <a:rPr lang="pt-BR" sz="3200" b="0" i="1" smtClean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/>
                          </a:rPr>
                        </m:ctrlPr>
                      </m:dPr>
                      <m:e>
                        <m:r>
                          <a:rPr lang="pt-BR" sz="3200" b="0" i="1" smtClean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/>
                          </a:rPr>
                          <m:t>𝜇</m:t>
                        </m:r>
                        <m:r>
                          <a:rPr lang="pt-BR" sz="3200" b="0" i="1" smtClean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/>
                          </a:rPr>
                          <m:t>,</m:t>
                        </m:r>
                        <m:sSup>
                          <m:sSupPr>
                            <m:ctrlPr>
                              <a:rPr lang="pt-BR" sz="3200" i="1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/>
                              </a:rPr>
                            </m:ctrlPr>
                          </m:sSupPr>
                          <m:e>
                            <m:r>
                              <a:rPr lang="pt-BR" sz="3200" i="1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/>
                              </a:rPr>
                              <m:t>𝜎</m:t>
                            </m:r>
                          </m:e>
                          <m:sup>
                            <m:r>
                              <a:rPr lang="pt-BR" sz="3200" i="1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pt-BR" sz="3200" b="0" dirty="0">
                    <a:solidFill>
                      <a:srgbClr val="11111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Calibri"/>
                  </a:rPr>
                  <a:t> com função de distribuição acumulada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3200" i="1" smtClean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pt-BR" sz="320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pt-BR" sz="3200" b="0" i="1" smtClean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  <m:t>X</m:t>
                        </m:r>
                      </m:sub>
                    </m:sSub>
                    <m:d>
                      <m:dPr>
                        <m:ctrlPr>
                          <a:rPr lang="pt-BR" sz="3200" i="1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</m:ctrlPr>
                      </m:dPr>
                      <m:e>
                        <m:r>
                          <a:rPr lang="pt-BR" sz="3200" i="1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/>
                          </a:rPr>
                          <m:t>∙</m:t>
                        </m:r>
                      </m:e>
                    </m:d>
                  </m:oMath>
                </a14:m>
                <a:r>
                  <a:rPr lang="pt-BR" sz="3200" b="0" dirty="0">
                    <a:solidFill>
                      <a:srgbClr val="11111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Calibri"/>
                  </a:rPr>
                  <a:t>, a função de probabilidade da normal discreta é dada por: </a:t>
                </a:r>
              </a:p>
              <a:p>
                <a:pPr>
                  <a:lnSpc>
                    <a:spcPct val="108000"/>
                  </a:lnSpc>
                  <a:defRPr sz="3600" b="0">
                    <a:solidFill>
                      <a:srgbClr val="111111"/>
                    </a:solidFill>
                    <a:latin typeface="Calibri"/>
                    <a:ea typeface="Calibri"/>
                    <a:cs typeface="Calibri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3600" b="0" i="1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Calibri"/>
                          <a:cs typeface="Calibri"/>
                        </a:rPr>
                        <m:t>𝑃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3600" b="0" i="1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</m:ctrlPr>
                        </m:dPr>
                        <m:e>
                          <m:r>
                            <a:rPr lang="pt-BR" sz="3600" b="0" i="1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𝑋</m:t>
                          </m:r>
                          <m:r>
                            <a:rPr lang="pt-BR" sz="3600" b="0" i="1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=</m:t>
                          </m:r>
                          <m:r>
                            <a:rPr lang="pt-BR" sz="3600" b="0" i="1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𝑥</m:t>
                          </m:r>
                        </m:e>
                      </m:d>
                      <m:r>
                        <a:rPr lang="pt-BR" sz="3600" b="0" i="1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Calibri"/>
                          <a:cs typeface="Calibri"/>
                        </a:rPr>
                        <m:t>=</m:t>
                      </m:r>
                      <m:r>
                        <m:rPr>
                          <m:sty m:val="p"/>
                        </m:rPr>
                        <a:rPr lang="pt-BR" sz="360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Calibri"/>
                          <a:cs typeface="Calibri"/>
                        </a:rPr>
                        <m:t>Φ</m:t>
                      </m:r>
                      <m:d>
                        <m:dPr>
                          <m:ctrlPr>
                            <a:rPr lang="pt-BR" sz="3600" b="0" i="1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cs typeface="Calibri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pt-BR" sz="3600" b="0" i="1" smtClean="0">
                                  <a:solidFill>
                                    <a:srgbClr val="111111"/>
                                  </a:solidFill>
                                  <a:latin typeface="Cambria Math" panose="02040503050406030204" pitchFamily="18" charset="0"/>
                                  <a:cs typeface="Calibri"/>
                                </a:rPr>
                              </m:ctrlPr>
                            </m:fPr>
                            <m:num>
                              <m:r>
                                <a:rPr lang="pt-BR" sz="3600" b="0" i="1" smtClean="0">
                                  <a:solidFill>
                                    <a:srgbClr val="111111"/>
                                  </a:solidFill>
                                  <a:latin typeface="Cambria Math" panose="02040503050406030204" pitchFamily="18" charset="0"/>
                                  <a:cs typeface="Calibri"/>
                                </a:rPr>
                                <m:t>𝑥</m:t>
                              </m:r>
                              <m:r>
                                <a:rPr lang="pt-BR" sz="3600" b="0" i="1" smtClean="0">
                                  <a:solidFill>
                                    <a:srgbClr val="111111"/>
                                  </a:solidFill>
                                  <a:latin typeface="Cambria Math" panose="02040503050406030204" pitchFamily="18" charset="0"/>
                                  <a:cs typeface="Calibri"/>
                                </a:rPr>
                                <m:t>−</m:t>
                              </m:r>
                              <m:r>
                                <a:rPr lang="pt-BR" sz="3600" b="0" i="1" smtClean="0">
                                  <a:solidFill>
                                    <a:srgbClr val="11111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/>
                                </a:rPr>
                                <m:t>𝜇</m:t>
                              </m:r>
                              <m:r>
                                <a:rPr lang="pt-BR" sz="3600" b="0" i="1" smtClean="0">
                                  <a:solidFill>
                                    <a:srgbClr val="11111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/>
                                </a:rPr>
                                <m:t>+</m:t>
                              </m:r>
                              <m:r>
                                <a:rPr lang="pt-BR" sz="3600" b="0" i="1" smtClean="0">
                                  <a:solidFill>
                                    <a:srgbClr val="11111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pt-BR" sz="3600" b="0" i="1" smtClean="0">
                                  <a:solidFill>
                                    <a:srgbClr val="11111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/>
                                </a:rPr>
                                <m:t>𝜎</m:t>
                              </m:r>
                            </m:den>
                          </m:f>
                        </m:e>
                      </m:d>
                      <m:r>
                        <a:rPr lang="pt-BR" sz="3600" b="0" i="1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cs typeface="Calibri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pt-BR" sz="360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Calibri"/>
                          <a:cs typeface="Calibri"/>
                        </a:rPr>
                        <m:t>Φ</m:t>
                      </m:r>
                      <m:d>
                        <m:dPr>
                          <m:ctrlPr>
                            <a:rPr lang="pt-BR" sz="3600" b="0" i="1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pt-BR" sz="3600" b="0" i="1" smtClean="0">
                                  <a:solidFill>
                                    <a:srgbClr val="11111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/>
                                </a:rPr>
                              </m:ctrlPr>
                            </m:fPr>
                            <m:num>
                              <m:r>
                                <a:rPr lang="pt-BR" sz="3600" b="0" i="1" smtClean="0">
                                  <a:solidFill>
                                    <a:srgbClr val="11111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/>
                                </a:rPr>
                                <m:t>𝑥</m:t>
                              </m:r>
                              <m:r>
                                <a:rPr lang="pt-BR" sz="3600" b="0" i="1" smtClean="0">
                                  <a:solidFill>
                                    <a:srgbClr val="11111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/>
                                </a:rPr>
                                <m:t>−</m:t>
                              </m:r>
                              <m:r>
                                <a:rPr lang="pt-BR" sz="3600" b="0" i="1" smtClean="0">
                                  <a:solidFill>
                                    <a:srgbClr val="11111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/>
                                </a:rPr>
                                <m:t>𝜇</m:t>
                              </m:r>
                            </m:num>
                            <m:den>
                              <m:r>
                                <a:rPr lang="pt-BR" sz="3600" b="0" i="1" smtClean="0">
                                  <a:solidFill>
                                    <a:srgbClr val="11111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/>
                                </a:rPr>
                                <m:t>𝜎</m:t>
                              </m:r>
                            </m:den>
                          </m:f>
                        </m:e>
                      </m:d>
                      <m:r>
                        <a:rPr lang="pt-BR" sz="3600" b="0" i="1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/>
                        </a:rPr>
                        <m:t>,  </m:t>
                      </m:r>
                      <m:r>
                        <a:rPr lang="pt-BR" sz="3600" b="0" i="1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/>
                        </a:rPr>
                        <m:t>𝑥</m:t>
                      </m:r>
                      <m:r>
                        <a:rPr lang="pt-BR" sz="3600" b="0" i="1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/>
                        </a:rPr>
                        <m:t> </m:t>
                      </m:r>
                      <m:r>
                        <a:rPr lang="pt-BR" sz="3600" b="0" i="1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/>
                        </a:rPr>
                        <m:t>𝜖</m:t>
                      </m:r>
                      <m:r>
                        <a:rPr lang="pt-BR" sz="3600" b="0" i="1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/>
                        </a:rPr>
                        <m:t> </m:t>
                      </m:r>
                      <m:r>
                        <a:rPr lang="pt-BR" sz="3600" b="0" i="1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/>
                        </a:rPr>
                        <m:t>𝑍</m:t>
                      </m:r>
                    </m:oMath>
                  </m:oMathPara>
                </a14:m>
                <a:endParaRPr lang="pt-BR" sz="3600" dirty="0">
                  <a:solidFill>
                    <a:srgbClr val="111111"/>
                  </a:solidFill>
                  <a:latin typeface="Calibri"/>
                  <a:ea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1016" name="normal-def">
                <a:extLst>
                  <a:ext uri="{FF2B5EF4-FFF2-40B4-BE49-F238E27FC236}">
                    <a16:creationId xmlns:a16="http://schemas.microsoft.com/office/drawing/2014/main" id="{CDF91B70-E832-41DA-8C1F-16B324B8DF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9184" y="22931869"/>
                <a:ext cx="13334991" cy="3029970"/>
              </a:xfrm>
              <a:prstGeom prst="rect">
                <a:avLst/>
              </a:prstGeom>
              <a:blipFill>
                <a:blip r:embed="rId5"/>
                <a:stretch>
                  <a:fillRect l="-1828" t="-4225" r="-1828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7" name="skew-name">
            <a:extLst>
              <a:ext uri="{FF2B5EF4-FFF2-40B4-BE49-F238E27FC236}">
                <a16:creationId xmlns:a16="http://schemas.microsoft.com/office/drawing/2014/main" id="{7C80367C-8652-422C-9D40-880B00E1127A}"/>
              </a:ext>
            </a:extLst>
          </p:cNvPr>
          <p:cNvSpPr>
            <a:spLocks noGrp="1"/>
          </p:cNvSpPr>
          <p:nvPr/>
        </p:nvSpPr>
        <p:spPr>
          <a:xfrm>
            <a:off x="1000106" y="25897406"/>
            <a:ext cx="13335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600" b="1">
                <a:solidFill>
                  <a:srgbClr val="3E6395"/>
                </a:solidFill>
                <a:latin typeface="Calibri"/>
                <a:ea typeface="Calibri"/>
                <a:cs typeface="Calibri"/>
              </a:defRPr>
            </a:pPr>
            <a:r>
              <a:rPr sz="3600" b="1" dirty="0">
                <a:solidFill>
                  <a:srgbClr val="3E6395"/>
                </a:solidFill>
                <a:latin typeface="Calibri"/>
                <a:ea typeface="Calibri"/>
                <a:cs typeface="Calibri"/>
              </a:rPr>
              <a:t>Skew-normal </a:t>
            </a:r>
            <a:r>
              <a:rPr lang="pt-BR" sz="3600" b="1" dirty="0">
                <a:solidFill>
                  <a:srgbClr val="3E6395"/>
                </a:solidFill>
                <a:latin typeface="Calibri"/>
                <a:ea typeface="Calibri"/>
                <a:cs typeface="Calibri"/>
              </a:rPr>
              <a:t>discreta</a:t>
            </a:r>
            <a:endParaRPr sz="3600" b="1" dirty="0">
              <a:solidFill>
                <a:srgbClr val="3E6395"/>
              </a:solidFill>
              <a:latin typeface="Calibri"/>
              <a:ea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18" name="skew-def">
                <a:extLst>
                  <a:ext uri="{FF2B5EF4-FFF2-40B4-BE49-F238E27FC236}">
                    <a16:creationId xmlns:a16="http://schemas.microsoft.com/office/drawing/2014/main" id="{3B15435C-6023-43A3-87E6-D6C40CCD5A3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019175" y="26569430"/>
                <a:ext cx="13335000" cy="38265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t">
                <a:noAutofit/>
              </a:bodyPr>
              <a:lstStyle/>
              <a:p>
                <a:pPr algn="just">
                  <a:lnSpc>
                    <a:spcPct val="108000"/>
                  </a:lnSpc>
                  <a:defRPr sz="3600" b="0">
                    <a:solidFill>
                      <a:srgbClr val="111111"/>
                    </a:solidFill>
                    <a:latin typeface="Calibri"/>
                    <a:ea typeface="Calibri"/>
                    <a:cs typeface="Calibri"/>
                  </a:defRPr>
                </a:pPr>
                <a:r>
                  <a:rPr lang="pt-BR" sz="3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A distribuição skew-normal contínua, proposta por Azzalini (1985) tem função densidade de probabilidade (fdp) dada por </a:t>
                </a:r>
                <a:endParaRPr lang="pt-BR" sz="3200" b="0" dirty="0">
                  <a:solidFill>
                    <a:srgbClr val="111111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Calibri"/>
                </a:endParaRPr>
              </a:p>
              <a:p>
                <a:pPr>
                  <a:lnSpc>
                    <a:spcPct val="108000"/>
                  </a:lnSpc>
                  <a:defRPr sz="3600" b="0">
                    <a:solidFill>
                      <a:srgbClr val="111111"/>
                    </a:solidFill>
                    <a:latin typeface="Calibri"/>
                    <a:ea typeface="Calibri"/>
                    <a:cs typeface="Calibri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3600" i="1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Calibri"/>
                          <a:cs typeface="Calibri"/>
                        </a:rPr>
                        <m:t>𝑓</m:t>
                      </m:r>
                      <m:d>
                        <m:dPr>
                          <m:ctrlPr>
                            <a:rPr lang="pt-BR" sz="3600" i="1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</m:ctrlPr>
                        </m:dPr>
                        <m:e>
                          <m:r>
                            <a:rPr lang="pt-BR" sz="3600" i="1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𝑥</m:t>
                          </m:r>
                        </m:e>
                      </m:d>
                      <m:r>
                        <a:rPr lang="pt-BR" sz="3600" i="1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Calibri"/>
                          <a:cs typeface="Calibri"/>
                        </a:rPr>
                        <m:t> = </m:t>
                      </m:r>
                      <m:f>
                        <m:fPr>
                          <m:ctrlPr>
                            <a:rPr lang="pt-BR" sz="3600" i="1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</m:ctrlPr>
                        </m:fPr>
                        <m:num>
                          <m:r>
                            <a:rPr lang="pt-BR" sz="3600" i="1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2</m:t>
                          </m:r>
                        </m:num>
                        <m:den>
                          <m:r>
                            <a:rPr lang="pt-BR" sz="3600" i="1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𝜎</m:t>
                          </m:r>
                        </m:den>
                      </m:f>
                      <m:r>
                        <a:rPr lang="pt-BR" sz="3600" i="1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Calibri"/>
                          <a:cs typeface="Calibri"/>
                        </a:rPr>
                        <m:t> </m:t>
                      </m:r>
                      <m:r>
                        <a:rPr lang="pt-BR" sz="3600" i="1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Calibri"/>
                          <a:cs typeface="Calibri"/>
                        </a:rPr>
                        <m:t>𝜙</m:t>
                      </m:r>
                      <m:r>
                        <a:rPr lang="pt-BR" sz="3600" i="1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Calibri"/>
                          <a:cs typeface="Calibri"/>
                        </a:rPr>
                        <m:t> </m:t>
                      </m:r>
                      <m:d>
                        <m:dPr>
                          <m:ctrlPr>
                            <a:rPr lang="pt-BR" sz="3600" i="1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</m:ctrlPr>
                        </m:dPr>
                        <m:e>
                          <m:r>
                            <a:rPr lang="pt-BR" sz="3600" i="1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 </m:t>
                          </m:r>
                          <m:f>
                            <m:fPr>
                              <m:ctrlPr>
                                <a:rPr lang="pt-BR" sz="3600" i="1" smtClean="0">
                                  <a:solidFill>
                                    <a:srgbClr val="111111"/>
                                  </a:solidFill>
                                  <a:latin typeface="Cambria Math" panose="02040503050406030204" pitchFamily="18" charset="0"/>
                                  <a:ea typeface="Calibri"/>
                                  <a:cs typeface="Calibri"/>
                                </a:rPr>
                              </m:ctrlPr>
                            </m:fPr>
                            <m:num>
                              <m:r>
                                <a:rPr lang="pt-BR" sz="3600" i="1" smtClean="0">
                                  <a:solidFill>
                                    <a:srgbClr val="111111"/>
                                  </a:solidFill>
                                  <a:latin typeface="Cambria Math" panose="02040503050406030204" pitchFamily="18" charset="0"/>
                                  <a:ea typeface="Calibri"/>
                                  <a:cs typeface="Calibri"/>
                                </a:rPr>
                                <m:t>𝑥</m:t>
                              </m:r>
                              <m:r>
                                <a:rPr lang="pt-BR" sz="3600" i="1" smtClean="0">
                                  <a:solidFill>
                                    <a:srgbClr val="111111"/>
                                  </a:solidFill>
                                  <a:latin typeface="Cambria Math" panose="02040503050406030204" pitchFamily="18" charset="0"/>
                                  <a:ea typeface="Calibri"/>
                                  <a:cs typeface="Calibri"/>
                                </a:rPr>
                                <m:t> − </m:t>
                              </m:r>
                              <m:r>
                                <a:rPr lang="pt-BR" sz="3600" i="1" smtClean="0">
                                  <a:solidFill>
                                    <a:srgbClr val="111111"/>
                                  </a:solidFill>
                                  <a:latin typeface="Cambria Math" panose="02040503050406030204" pitchFamily="18" charset="0"/>
                                  <a:ea typeface="Calibri"/>
                                  <a:cs typeface="Calibri"/>
                                </a:rPr>
                                <m:t>𝜇</m:t>
                              </m:r>
                            </m:num>
                            <m:den>
                              <m:r>
                                <a:rPr lang="pt-BR" sz="3600" i="1" smtClean="0">
                                  <a:solidFill>
                                    <a:srgbClr val="111111"/>
                                  </a:solidFill>
                                  <a:latin typeface="Cambria Math" panose="02040503050406030204" pitchFamily="18" charset="0"/>
                                  <a:ea typeface="Calibri"/>
                                  <a:cs typeface="Calibri"/>
                                </a:rPr>
                                <m:t>𝜎</m:t>
                              </m:r>
                            </m:den>
                          </m:f>
                          <m:r>
                            <a:rPr lang="pt-BR" sz="3600" i="1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 </m:t>
                          </m:r>
                        </m:e>
                      </m:d>
                      <m:r>
                        <a:rPr lang="pt-BR" sz="3600" i="1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Calibri"/>
                          <a:cs typeface="Calibri"/>
                        </a:rPr>
                        <m:t> </m:t>
                      </m:r>
                      <m:r>
                        <m:rPr>
                          <m:sty m:val="p"/>
                        </m:rPr>
                        <a:rPr lang="pt-BR" sz="3600" i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Calibri"/>
                          <a:cs typeface="Calibri"/>
                        </a:rPr>
                        <m:t>Φ</m:t>
                      </m:r>
                      <m:r>
                        <a:rPr lang="pt-BR" sz="3600" i="1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Calibri"/>
                          <a:cs typeface="Calibri"/>
                        </a:rPr>
                        <m:t> </m:t>
                      </m:r>
                      <m:d>
                        <m:dPr>
                          <m:ctrlPr>
                            <a:rPr lang="pt-BR" sz="3600" i="1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</m:ctrlPr>
                        </m:dPr>
                        <m:e>
                          <m:r>
                            <a:rPr lang="pt-BR" sz="3600" i="1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 </m:t>
                          </m:r>
                          <m:r>
                            <a:rPr lang="pt-BR" sz="3600" i="1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𝜆</m:t>
                          </m:r>
                          <m:r>
                            <a:rPr lang="pt-BR" sz="3600" i="1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 </m:t>
                          </m:r>
                          <m:f>
                            <m:fPr>
                              <m:ctrlPr>
                                <a:rPr lang="pt-BR" sz="3600" i="1" smtClean="0">
                                  <a:solidFill>
                                    <a:srgbClr val="111111"/>
                                  </a:solidFill>
                                  <a:latin typeface="Cambria Math" panose="02040503050406030204" pitchFamily="18" charset="0"/>
                                  <a:ea typeface="Calibri"/>
                                  <a:cs typeface="Calibri"/>
                                </a:rPr>
                              </m:ctrlPr>
                            </m:fPr>
                            <m:num>
                              <m:r>
                                <a:rPr lang="pt-BR" sz="3600" i="1" smtClean="0">
                                  <a:solidFill>
                                    <a:srgbClr val="111111"/>
                                  </a:solidFill>
                                  <a:latin typeface="Cambria Math" panose="02040503050406030204" pitchFamily="18" charset="0"/>
                                  <a:ea typeface="Calibri"/>
                                  <a:cs typeface="Calibri"/>
                                </a:rPr>
                                <m:t>𝑥</m:t>
                              </m:r>
                              <m:r>
                                <a:rPr lang="pt-BR" sz="3600" i="1" smtClean="0">
                                  <a:solidFill>
                                    <a:srgbClr val="111111"/>
                                  </a:solidFill>
                                  <a:latin typeface="Cambria Math" panose="02040503050406030204" pitchFamily="18" charset="0"/>
                                  <a:ea typeface="Calibri"/>
                                  <a:cs typeface="Calibri"/>
                                </a:rPr>
                                <m:t> − </m:t>
                              </m:r>
                              <m:r>
                                <a:rPr lang="pt-BR" sz="3600" i="1" smtClean="0">
                                  <a:solidFill>
                                    <a:srgbClr val="111111"/>
                                  </a:solidFill>
                                  <a:latin typeface="Cambria Math" panose="02040503050406030204" pitchFamily="18" charset="0"/>
                                  <a:ea typeface="Calibri"/>
                                  <a:cs typeface="Calibri"/>
                                </a:rPr>
                                <m:t>𝜇</m:t>
                              </m:r>
                            </m:num>
                            <m:den>
                              <m:r>
                                <a:rPr lang="pt-BR" sz="3600" i="1" smtClean="0">
                                  <a:solidFill>
                                    <a:srgbClr val="111111"/>
                                  </a:solidFill>
                                  <a:latin typeface="Cambria Math" panose="02040503050406030204" pitchFamily="18" charset="0"/>
                                  <a:ea typeface="Calibri"/>
                                  <a:cs typeface="Calibri"/>
                                </a:rPr>
                                <m:t>𝜎</m:t>
                              </m:r>
                            </m:den>
                          </m:f>
                          <m:r>
                            <a:rPr lang="pt-BR" sz="3600" i="1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 </m:t>
                          </m:r>
                        </m:e>
                      </m:d>
                      <m:r>
                        <a:rPr lang="pt-BR" sz="3600" i="1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Calibri"/>
                          <a:cs typeface="Calibri"/>
                        </a:rPr>
                        <m:t>,</m:t>
                      </m:r>
                    </m:oMath>
                  </m:oMathPara>
                </a14:m>
                <a:endParaRPr lang="pt-BR" sz="3600" b="0" dirty="0">
                  <a:solidFill>
                    <a:srgbClr val="111111"/>
                  </a:solidFill>
                  <a:latin typeface="Calibri"/>
                  <a:ea typeface="Calibri"/>
                  <a:cs typeface="Calibri"/>
                </a:endParaRPr>
              </a:p>
              <a:p>
                <a:pPr algn="just">
                  <a:lnSpc>
                    <a:spcPct val="108000"/>
                  </a:lnSpc>
                  <a:defRPr sz="3600" b="0">
                    <a:solidFill>
                      <a:srgbClr val="111111"/>
                    </a:solidFill>
                    <a:latin typeface="Calibri"/>
                    <a:ea typeface="Calibri"/>
                    <a:cs typeface="Calibri"/>
                  </a:defRPr>
                </a:pPr>
                <a:r>
                  <a:rPr lang="pt-BR" sz="3200" dirty="0">
                    <a:solidFill>
                      <a:srgbClr val="11111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Calibri"/>
                  </a:rPr>
                  <a:t>em que </a:t>
                </a:r>
                <a14:m>
                  <m:oMath xmlns:m="http://schemas.openxmlformats.org/officeDocument/2006/math">
                    <m:r>
                      <a:rPr lang="pt-BR" sz="3200" i="1">
                        <a:solidFill>
                          <a:srgbClr val="11111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/>
                      </a:rPr>
                      <m:t>𝜙</m:t>
                    </m:r>
                    <m:d>
                      <m:dPr>
                        <m:ctrlPr>
                          <a:rPr lang="pt-BR" sz="3200" i="1" smtClean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/>
                          </a:rPr>
                        </m:ctrlPr>
                      </m:dPr>
                      <m:e>
                        <m:r>
                          <a:rPr lang="pt-BR" sz="3200" i="1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/>
                          </a:rPr>
                          <m:t>∙</m:t>
                        </m:r>
                      </m:e>
                    </m:d>
                  </m:oMath>
                </a14:m>
                <a:r>
                  <a:rPr lang="pt-BR" sz="3200" b="0" dirty="0">
                    <a:solidFill>
                      <a:srgbClr val="11111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Calibri"/>
                  </a:rPr>
                  <a:t> 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sz="3200">
                        <a:solidFill>
                          <a:srgbClr val="11111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/>
                      </a:rPr>
                      <m:t>Φ</m:t>
                    </m:r>
                    <m:d>
                      <m:dPr>
                        <m:ctrlPr>
                          <a:rPr lang="pt-BR" sz="3200" i="1" smtClean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/>
                          </a:rPr>
                        </m:ctrlPr>
                      </m:dPr>
                      <m:e>
                        <m:r>
                          <a:rPr lang="pt-BR" sz="3200" i="1" smtClean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/>
                          </a:rPr>
                          <m:t>∙</m:t>
                        </m:r>
                      </m:e>
                    </m:d>
                  </m:oMath>
                </a14:m>
                <a:r>
                  <a:rPr lang="pt-BR" sz="3200" b="0" dirty="0">
                    <a:solidFill>
                      <a:srgbClr val="11111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Calibri"/>
                  </a:rPr>
                  <a:t> representam, respectivamente, a função densidade e a função distribuição acumulada da normal padrão, enquanto </a:t>
                </a:r>
                <a14:m>
                  <m:oMath xmlns:m="http://schemas.openxmlformats.org/officeDocument/2006/math">
                    <m:r>
                      <a:rPr lang="pt-BR" sz="3200" b="0" i="1" smtClean="0">
                        <a:solidFill>
                          <a:srgbClr val="11111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/>
                      </a:rPr>
                      <m:t>𝜇</m:t>
                    </m:r>
                    <m:r>
                      <a:rPr lang="pt-BR" sz="3200" b="0" i="1" smtClean="0">
                        <a:solidFill>
                          <a:srgbClr val="11111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/>
                      </a:rPr>
                      <m:t>, </m:t>
                    </m:r>
                    <m:r>
                      <a:rPr lang="pt-BR" sz="3200" b="0" i="1" smtClean="0">
                        <a:solidFill>
                          <a:srgbClr val="11111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/>
                      </a:rPr>
                      <m:t>𝜎</m:t>
                    </m:r>
                    <m:r>
                      <a:rPr lang="pt-BR" sz="3200" b="0" i="1" smtClean="0">
                        <a:solidFill>
                          <a:srgbClr val="11111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/>
                      </a:rPr>
                      <m:t>&gt;</m:t>
                    </m:r>
                    <m:r>
                      <a:rPr lang="pt-BR" sz="3200" b="0" i="1" smtClean="0">
                        <a:solidFill>
                          <a:srgbClr val="11111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/>
                      </a:rPr>
                      <m:t>0</m:t>
                    </m:r>
                  </m:oMath>
                </a14:m>
                <a:r>
                  <a:rPr lang="pt-BR" sz="3200" b="0" dirty="0">
                    <a:solidFill>
                      <a:srgbClr val="11111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Calibri"/>
                  </a:rPr>
                  <a:t> e </a:t>
                </a:r>
                <a14:m>
                  <m:oMath xmlns:m="http://schemas.openxmlformats.org/officeDocument/2006/math">
                    <m:r>
                      <a:rPr lang="pt-BR" sz="3200" i="1">
                        <a:solidFill>
                          <a:srgbClr val="11111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/>
                      </a:rPr>
                      <m:t>𝜆</m:t>
                    </m:r>
                  </m:oMath>
                </a14:m>
                <a:r>
                  <a:rPr lang="pt-BR" sz="3200" b="0" dirty="0">
                    <a:solidFill>
                      <a:srgbClr val="11111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Calibri"/>
                  </a:rPr>
                  <a:t> correspondem aos parâmetros de localização, escala e assimetria</a:t>
                </a:r>
                <a:r>
                  <a:rPr lang="pt-BR" sz="3600" b="0" dirty="0">
                    <a:solidFill>
                      <a:srgbClr val="11111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Calibri"/>
                  </a:rPr>
                  <a:t>.</a:t>
                </a:r>
              </a:p>
              <a:p>
                <a:pPr algn="l">
                  <a:lnSpc>
                    <a:spcPct val="108000"/>
                  </a:lnSpc>
                  <a:buNone/>
                  <a:defRPr sz="3600" b="0">
                    <a:solidFill>
                      <a:srgbClr val="111111"/>
                    </a:solidFill>
                    <a:latin typeface="Calibri"/>
                    <a:ea typeface="Calibri"/>
                    <a:cs typeface="Calibri"/>
                  </a:defRPr>
                </a:pPr>
                <a:endParaRPr sz="3600" b="0" dirty="0">
                  <a:solidFill>
                    <a:srgbClr val="111111"/>
                  </a:solidFill>
                  <a:latin typeface="Calibri"/>
                  <a:ea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1018" name="skew-def">
                <a:extLst>
                  <a:ext uri="{FF2B5EF4-FFF2-40B4-BE49-F238E27FC236}">
                    <a16:creationId xmlns:a16="http://schemas.microsoft.com/office/drawing/2014/main" id="{3B15435C-6023-43A3-87E6-D6C40CCD5A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9175" y="26569430"/>
                <a:ext cx="13335000" cy="3826525"/>
              </a:xfrm>
              <a:prstGeom prst="rect">
                <a:avLst/>
              </a:prstGeom>
              <a:blipFill>
                <a:blip r:embed="rId6"/>
                <a:stretch>
                  <a:fillRect l="-1828" t="-3349" r="-1874" b="-5742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9" name="skellam-name">
            <a:extLst>
              <a:ext uri="{FF2B5EF4-FFF2-40B4-BE49-F238E27FC236}">
                <a16:creationId xmlns:a16="http://schemas.microsoft.com/office/drawing/2014/main" id="{B6736979-154E-48F7-BDF7-3F2F2A7A05D7}"/>
              </a:ext>
            </a:extLst>
          </p:cNvPr>
          <p:cNvSpPr>
            <a:spLocks noGrp="1"/>
          </p:cNvSpPr>
          <p:nvPr/>
        </p:nvSpPr>
        <p:spPr>
          <a:xfrm>
            <a:off x="1000106" y="30395260"/>
            <a:ext cx="13335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600" b="1">
                <a:solidFill>
                  <a:srgbClr val="3E6395"/>
                </a:solidFill>
                <a:latin typeface="Calibri"/>
                <a:ea typeface="Calibri"/>
                <a:cs typeface="Calibri"/>
              </a:defRPr>
            </a:pPr>
            <a:r>
              <a:rPr lang="pt-BR" sz="3600" b="1" dirty="0">
                <a:solidFill>
                  <a:srgbClr val="3E6395"/>
                </a:solidFill>
                <a:latin typeface="Calibri"/>
                <a:ea typeface="Calibri"/>
                <a:cs typeface="Calibri"/>
              </a:rPr>
              <a:t>Skellam</a:t>
            </a:r>
            <a:endParaRPr sz="3600" b="1" dirty="0">
              <a:solidFill>
                <a:srgbClr val="3E6395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21" name="weibull-name">
            <a:extLst>
              <a:ext uri="{FF2B5EF4-FFF2-40B4-BE49-F238E27FC236}">
                <a16:creationId xmlns:a16="http://schemas.microsoft.com/office/drawing/2014/main" id="{A3EB3360-BD68-4603-BA67-6039891C77DC}"/>
              </a:ext>
            </a:extLst>
          </p:cNvPr>
          <p:cNvSpPr>
            <a:spLocks noGrp="1"/>
          </p:cNvSpPr>
          <p:nvPr/>
        </p:nvSpPr>
        <p:spPr>
          <a:xfrm>
            <a:off x="1000106" y="35874302"/>
            <a:ext cx="13335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600" b="1">
                <a:solidFill>
                  <a:srgbClr val="3E6395"/>
                </a:solidFill>
                <a:latin typeface="Calibri"/>
                <a:ea typeface="Calibri"/>
                <a:cs typeface="Calibri"/>
              </a:defRPr>
            </a:pPr>
            <a:r>
              <a:rPr sz="3600" b="1" dirty="0">
                <a:solidFill>
                  <a:srgbClr val="3E6395"/>
                </a:solidFill>
                <a:latin typeface="Calibri"/>
                <a:ea typeface="Calibri"/>
                <a:cs typeface="Calibri"/>
              </a:rPr>
              <a:t>Diferença Weibull </a:t>
            </a:r>
            <a:r>
              <a:rPr lang="pt-BR" sz="3600" b="1" dirty="0">
                <a:solidFill>
                  <a:srgbClr val="3E6395"/>
                </a:solidFill>
                <a:latin typeface="Calibri"/>
                <a:ea typeface="Calibri"/>
                <a:cs typeface="Calibri"/>
              </a:rPr>
              <a:t>discreta</a:t>
            </a:r>
            <a:endParaRPr sz="3600" b="1" dirty="0">
              <a:solidFill>
                <a:srgbClr val="3E6395"/>
              </a:solidFill>
              <a:latin typeface="Calibri"/>
              <a:ea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2" name="weibull-def">
                <a:extLst>
                  <a:ext uri="{FF2B5EF4-FFF2-40B4-BE49-F238E27FC236}">
                    <a16:creationId xmlns:a16="http://schemas.microsoft.com/office/drawing/2014/main" id="{58299515-B8F8-4F17-8459-0DF6008A6B42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000116" y="31042606"/>
                <a:ext cx="13334990" cy="4895366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t">
                <a:noAutofit/>
              </a:bodyPr>
              <a:lstStyle/>
              <a:p>
                <a:pPr algn="just">
                  <a:lnSpc>
                    <a:spcPct val="108000"/>
                  </a:lnSpc>
                  <a:defRPr sz="3600" b="0">
                    <a:solidFill>
                      <a:srgbClr val="111111"/>
                    </a:solidFill>
                    <a:latin typeface="Calibri"/>
                    <a:ea typeface="Calibri"/>
                    <a:cs typeface="Calibri"/>
                  </a:defRPr>
                </a:pPr>
                <a:r>
                  <a:rPr lang="pt-BR" sz="3200" dirty="0">
                    <a:solidFill>
                      <a:srgbClr val="11111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Calibri"/>
                  </a:rPr>
                  <a:t>Proposta por Skellam (1964) é a </a:t>
                </a:r>
                <a:r>
                  <a:rPr lang="pt-BR" sz="3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distribuição exata da diferença entre duas variáveis aleatórias independentes com distribuição de Poisson. Sejam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X</m:t>
                    </m:r>
                    <m:r>
                      <a:rPr lang="pt-BR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m:rPr>
                        <m:sty m:val="p"/>
                      </m:rPr>
                      <a:rPr lang="pt-BR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Poi</m:t>
                    </m:r>
                    <m:d>
                      <m:dPr>
                        <m:ctrlPr>
                          <a:rPr lang="pt-BR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sz="3200" i="1" dirty="0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  <a:ea typeface="Calibri"/>
                                <a:cs typeface="Calibri"/>
                              </a:rPr>
                            </m:ctrlPr>
                          </m:sSubPr>
                          <m:e>
                            <m:r>
                              <a:rPr lang="pt-BR" sz="3200" i="1" dirty="0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  <a:ea typeface="Calibri"/>
                                <a:cs typeface="Calibri"/>
                              </a:rPr>
                              <m:t>𝜆</m:t>
                            </m:r>
                          </m:e>
                          <m:sub>
                            <m:r>
                              <a:rPr lang="pt-BR" sz="3200" i="1" dirty="0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  <a:ea typeface="Calibri"/>
                                <a:cs typeface="Calibri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pt-BR" sz="3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sz="32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Y</m:t>
                    </m:r>
                    <m:r>
                      <a:rPr lang="pt-BR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m:rPr>
                        <m:sty m:val="p"/>
                      </m:rPr>
                      <a:rPr lang="pt-BR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Poi</m:t>
                    </m:r>
                    <m:d>
                      <m:dPr>
                        <m:ctrlPr>
                          <a:rPr lang="pt-BR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sz="3200" i="1" dirty="0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  <a:ea typeface="Calibri"/>
                                <a:cs typeface="Calibri"/>
                              </a:rPr>
                            </m:ctrlPr>
                          </m:sSubPr>
                          <m:e>
                            <m:r>
                              <a:rPr lang="pt-BR" sz="3200" i="1" dirty="0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  <a:ea typeface="Calibri"/>
                                <a:cs typeface="Calibri"/>
                              </a:rPr>
                              <m:t>𝜆</m:t>
                            </m:r>
                          </m:e>
                          <m:sub>
                            <m:r>
                              <a:rPr lang="pt-BR" sz="3200" b="0" i="1" dirty="0" smtClean="0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  <a:ea typeface="Calibri"/>
                                <a:cs typeface="Calibri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pt-BR" sz="3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 com X e Y independentes, então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D</m:t>
                    </m:r>
                    <m:r>
                      <a:rPr lang="pt-BR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pt-BR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X</m:t>
                    </m:r>
                    <m:r>
                      <a:rPr lang="pt-BR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pt-BR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Y</m:t>
                    </m:r>
                    <m:r>
                      <a:rPr lang="pt-BR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~ </m:t>
                    </m:r>
                    <m:r>
                      <m:rPr>
                        <m:sty m:val="p"/>
                      </m:rPr>
                      <a:rPr lang="pt-BR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Skellam</m:t>
                    </m:r>
                    <m:d>
                      <m:dPr>
                        <m:ctrlPr>
                          <a:rPr lang="pt-BR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sz="3200" i="1" dirty="0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  <a:ea typeface="Calibri"/>
                                <a:cs typeface="Calibri"/>
                              </a:rPr>
                            </m:ctrlPr>
                          </m:sSubPr>
                          <m:e>
                            <m:r>
                              <a:rPr lang="pt-BR" sz="3200" i="1" dirty="0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  <a:ea typeface="Calibri"/>
                                <a:cs typeface="Calibri"/>
                              </a:rPr>
                              <m:t>𝜆</m:t>
                            </m:r>
                          </m:e>
                          <m:sub>
                            <m:r>
                              <a:rPr lang="pt-BR" sz="3200" i="1" dirty="0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  <a:ea typeface="Calibri"/>
                                <a:cs typeface="Calibri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pt-BR" sz="3200" i="1" dirty="0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  <a:ea typeface="Calibri"/>
                                <a:cs typeface="Calibri"/>
                              </a:rPr>
                            </m:ctrlPr>
                          </m:sSubPr>
                          <m:e>
                            <m:r>
                              <a:rPr lang="pt-BR" sz="3200" i="1" dirty="0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  <a:ea typeface="Calibri"/>
                                <a:cs typeface="Calibri"/>
                              </a:rPr>
                              <m:t>,</m:t>
                            </m:r>
                            <m:r>
                              <a:rPr lang="pt-BR" sz="3200" i="1" dirty="0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  <a:ea typeface="Calibri"/>
                                <a:cs typeface="Calibri"/>
                              </a:rPr>
                              <m:t>𝜆</m:t>
                            </m:r>
                          </m:e>
                          <m:sub>
                            <m:r>
                              <a:rPr lang="pt-BR" sz="3200" i="1" dirty="0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  <a:ea typeface="Calibri"/>
                                <a:cs typeface="Calibri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pt-BR" sz="3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cuja função densidade de probabilidade é dada por;   </a:t>
                </a:r>
              </a:p>
              <a:p>
                <a:pPr algn="just">
                  <a:lnSpc>
                    <a:spcPct val="108000"/>
                  </a:lnSpc>
                  <a:defRPr sz="3600" b="0">
                    <a:solidFill>
                      <a:srgbClr val="111111"/>
                    </a:solidFill>
                    <a:latin typeface="Calibri"/>
                    <a:ea typeface="Calibri"/>
                    <a:cs typeface="Calibri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36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Calibri"/>
                          <a:cs typeface="Calibri"/>
                        </a:rPr>
                        <m:t>𝑃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360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</m:ctrlPr>
                        </m:dPr>
                        <m:e>
                          <m:r>
                            <a:rPr lang="pt-BR" sz="360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𝐷</m:t>
                          </m:r>
                          <m:r>
                            <a:rPr lang="pt-BR" sz="360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=</m:t>
                          </m:r>
                          <m:r>
                            <a:rPr lang="pt-BR" sz="360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𝑑</m:t>
                          </m:r>
                        </m:e>
                      </m:d>
                      <m:r>
                        <a:rPr lang="pt-BR" sz="36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Calibri"/>
                          <a:cs typeface="Calibri"/>
                        </a:rPr>
                        <m:t>=</m:t>
                      </m:r>
                      <m:sSup>
                        <m:sSupPr>
                          <m:ctrlPr>
                            <a:rPr lang="pt-BR" sz="360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</m:ctrlPr>
                        </m:sSupPr>
                        <m:e>
                          <m:r>
                            <a:rPr lang="pt-BR" sz="360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𝑒</m:t>
                          </m:r>
                        </m:e>
                        <m:sup>
                          <m:r>
                            <a:rPr lang="pt-BR" sz="360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−</m:t>
                          </m:r>
                          <m:d>
                            <m:dPr>
                              <m:ctrlPr>
                                <a:rPr lang="pt-BR" sz="3600" i="1" dirty="0" smtClean="0">
                                  <a:solidFill>
                                    <a:srgbClr val="111111"/>
                                  </a:solidFill>
                                  <a:latin typeface="Cambria Math" panose="02040503050406030204" pitchFamily="18" charset="0"/>
                                  <a:ea typeface="Calibri"/>
                                  <a:cs typeface="Calibri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pt-BR" sz="3600" i="1" dirty="0" smtClean="0">
                                      <a:solidFill>
                                        <a:srgbClr val="111111"/>
                                      </a:solidFill>
                                      <a:latin typeface="Cambria Math" panose="02040503050406030204" pitchFamily="18" charset="0"/>
                                      <a:ea typeface="Calibri"/>
                                      <a:cs typeface="Calibri"/>
                                    </a:rPr>
                                  </m:ctrlPr>
                                </m:sSubPr>
                                <m:e>
                                  <m:r>
                                    <a:rPr lang="pt-BR" sz="3600" i="1" dirty="0" smtClean="0">
                                      <a:solidFill>
                                        <a:srgbClr val="111111"/>
                                      </a:solidFill>
                                      <a:latin typeface="Cambria Math" panose="02040503050406030204" pitchFamily="18" charset="0"/>
                                      <a:ea typeface="Calibri"/>
                                      <a:cs typeface="Calibri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pt-BR" sz="3600" i="1" dirty="0" smtClean="0">
                                      <a:solidFill>
                                        <a:srgbClr val="111111"/>
                                      </a:solidFill>
                                      <a:latin typeface="Cambria Math" panose="02040503050406030204" pitchFamily="18" charset="0"/>
                                      <a:ea typeface="Calibri"/>
                                      <a:cs typeface="Calibri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pt-BR" sz="3600" i="1" dirty="0" smtClean="0">
                                  <a:solidFill>
                                    <a:srgbClr val="111111"/>
                                  </a:solidFill>
                                  <a:latin typeface="Cambria Math" panose="02040503050406030204" pitchFamily="18" charset="0"/>
                                  <a:ea typeface="Calibri"/>
                                  <a:cs typeface="Calibri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pt-BR" sz="3600" i="1" dirty="0" smtClean="0">
                                      <a:solidFill>
                                        <a:srgbClr val="111111"/>
                                      </a:solidFill>
                                      <a:latin typeface="Cambria Math" panose="02040503050406030204" pitchFamily="18" charset="0"/>
                                      <a:ea typeface="Calibri"/>
                                      <a:cs typeface="Calibri"/>
                                    </a:rPr>
                                  </m:ctrlPr>
                                </m:sSubPr>
                                <m:e>
                                  <m:r>
                                    <a:rPr lang="pt-BR" sz="3600" i="1" dirty="0" smtClean="0">
                                      <a:solidFill>
                                        <a:srgbClr val="111111"/>
                                      </a:solidFill>
                                      <a:latin typeface="Cambria Math" panose="02040503050406030204" pitchFamily="18" charset="0"/>
                                      <a:ea typeface="Calibri"/>
                                      <a:cs typeface="Calibri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pt-BR" sz="3600" i="1" dirty="0" smtClean="0">
                                      <a:solidFill>
                                        <a:srgbClr val="111111"/>
                                      </a:solidFill>
                                      <a:latin typeface="Cambria Math" panose="02040503050406030204" pitchFamily="18" charset="0"/>
                                      <a:ea typeface="Calibri"/>
                                      <a:cs typeface="Calibri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sup>
                      </m:sSup>
                      <m:sSup>
                        <m:sSupPr>
                          <m:ctrlPr>
                            <a:rPr lang="pt-BR" sz="360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t-BR" sz="3600" i="1" dirty="0" smtClean="0">
                                  <a:solidFill>
                                    <a:srgbClr val="111111"/>
                                  </a:solidFill>
                                  <a:latin typeface="Cambria Math" panose="02040503050406030204" pitchFamily="18" charset="0"/>
                                  <a:ea typeface="Calibri"/>
                                  <a:cs typeface="Calibri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pt-BR" sz="3600" i="1" dirty="0" smtClean="0">
                                      <a:solidFill>
                                        <a:srgbClr val="111111"/>
                                      </a:solidFill>
                                      <a:latin typeface="Cambria Math" panose="02040503050406030204" pitchFamily="18" charset="0"/>
                                      <a:ea typeface="Calibri"/>
                                      <a:cs typeface="Calibri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pt-BR" sz="3600" i="1" dirty="0" smtClean="0">
                                          <a:solidFill>
                                            <a:srgbClr val="111111"/>
                                          </a:solidFill>
                                          <a:latin typeface="Cambria Math" panose="02040503050406030204" pitchFamily="18" charset="0"/>
                                          <a:ea typeface="Calibri"/>
                                          <a:cs typeface="Calibri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3600" i="1" dirty="0" smtClean="0">
                                          <a:solidFill>
                                            <a:srgbClr val="111111"/>
                                          </a:solidFill>
                                          <a:latin typeface="Cambria Math" panose="02040503050406030204" pitchFamily="18" charset="0"/>
                                          <a:ea typeface="Calibri"/>
                                          <a:cs typeface="Calibri"/>
                                        </a:rPr>
                                        <m:t>𝜆</m:t>
                                      </m:r>
                                    </m:e>
                                    <m:sub>
                                      <m:r>
                                        <a:rPr lang="pt-BR" sz="3600" i="1" dirty="0" smtClean="0">
                                          <a:solidFill>
                                            <a:srgbClr val="111111"/>
                                          </a:solidFill>
                                          <a:latin typeface="Cambria Math" panose="02040503050406030204" pitchFamily="18" charset="0"/>
                                          <a:ea typeface="Calibri"/>
                                          <a:cs typeface="Calibri"/>
                                        </a:rPr>
                                        <m:t>1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pt-BR" sz="3600" i="1" dirty="0" smtClean="0">
                                          <a:solidFill>
                                            <a:srgbClr val="111111"/>
                                          </a:solidFill>
                                          <a:latin typeface="Cambria Math" panose="02040503050406030204" pitchFamily="18" charset="0"/>
                                          <a:ea typeface="Calibri"/>
                                          <a:cs typeface="Calibri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3600" i="1" dirty="0" smtClean="0">
                                          <a:solidFill>
                                            <a:srgbClr val="111111"/>
                                          </a:solidFill>
                                          <a:latin typeface="Cambria Math" panose="02040503050406030204" pitchFamily="18" charset="0"/>
                                          <a:ea typeface="Calibri"/>
                                          <a:cs typeface="Calibri"/>
                                        </a:rPr>
                                        <m:t>𝜆</m:t>
                                      </m:r>
                                    </m:e>
                                    <m:sub>
                                      <m:r>
                                        <a:rPr lang="pt-BR" sz="3600" i="1" dirty="0" smtClean="0">
                                          <a:solidFill>
                                            <a:srgbClr val="111111"/>
                                          </a:solidFill>
                                          <a:latin typeface="Cambria Math" panose="02040503050406030204" pitchFamily="18" charset="0"/>
                                          <a:ea typeface="Calibri"/>
                                          <a:cs typeface="Calibri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pt-BR" sz="360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𝑑</m:t>
                          </m:r>
                          <m:r>
                            <m:rPr>
                              <m:lit/>
                            </m:rPr>
                            <a:rPr lang="pt-BR" sz="360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/</m:t>
                          </m:r>
                          <m:r>
                            <a:rPr lang="pt-BR" sz="360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pt-BR" sz="360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</m:ctrlPr>
                        </m:sSubPr>
                        <m:e>
                          <m:r>
                            <a:rPr lang="pt-BR" sz="360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𝐼</m:t>
                          </m:r>
                        </m:e>
                        <m:sub>
                          <m:d>
                            <m:dPr>
                              <m:begChr m:val="|"/>
                              <m:endChr m:val="|"/>
                              <m:ctrlPr>
                                <a:rPr lang="pt-BR" sz="3600" i="1" dirty="0" smtClean="0">
                                  <a:solidFill>
                                    <a:srgbClr val="111111"/>
                                  </a:solidFill>
                                  <a:latin typeface="Cambria Math" panose="02040503050406030204" pitchFamily="18" charset="0"/>
                                  <a:ea typeface="Calibri"/>
                                  <a:cs typeface="Calibri"/>
                                </a:rPr>
                              </m:ctrlPr>
                            </m:dPr>
                            <m:e>
                              <m:r>
                                <a:rPr lang="pt-BR" sz="3600" i="1" dirty="0" smtClean="0">
                                  <a:solidFill>
                                    <a:srgbClr val="111111"/>
                                  </a:solidFill>
                                  <a:latin typeface="Cambria Math" panose="02040503050406030204" pitchFamily="18" charset="0"/>
                                  <a:ea typeface="Calibri"/>
                                  <a:cs typeface="Calibri"/>
                                </a:rPr>
                                <m:t>𝑑</m:t>
                              </m:r>
                            </m:e>
                          </m:d>
                        </m:sub>
                      </m:sSub>
                      <m:d>
                        <m:dPr>
                          <m:ctrlPr>
                            <a:rPr lang="pt-BR" sz="360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</m:ctrlPr>
                        </m:dPr>
                        <m:e>
                          <m:r>
                            <a:rPr lang="pt-BR" sz="3600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2</m:t>
                          </m:r>
                          <m:rad>
                            <m:radPr>
                              <m:degHide m:val="on"/>
                              <m:ctrlPr>
                                <a:rPr lang="pt-BR" sz="3600" i="1" dirty="0" smtClean="0">
                                  <a:solidFill>
                                    <a:srgbClr val="111111"/>
                                  </a:solidFill>
                                  <a:latin typeface="Cambria Math" panose="02040503050406030204" pitchFamily="18" charset="0"/>
                                  <a:ea typeface="Calibri"/>
                                  <a:cs typeface="Calibri"/>
                                </a:rPr>
                              </m:ctrlPr>
                            </m:radPr>
                            <m:deg/>
                            <m:e>
                              <m:sSub>
                                <m:sSubPr>
                                  <m:ctrlPr>
                                    <a:rPr lang="pt-BR" sz="3600" i="1" dirty="0" smtClean="0">
                                      <a:solidFill>
                                        <a:srgbClr val="111111"/>
                                      </a:solidFill>
                                      <a:latin typeface="Cambria Math" panose="02040503050406030204" pitchFamily="18" charset="0"/>
                                      <a:ea typeface="Calibri"/>
                                      <a:cs typeface="Calibri"/>
                                    </a:rPr>
                                  </m:ctrlPr>
                                </m:sSubPr>
                                <m:e>
                                  <m:r>
                                    <a:rPr lang="pt-BR" sz="3600" i="1" dirty="0" smtClean="0">
                                      <a:solidFill>
                                        <a:srgbClr val="111111"/>
                                      </a:solidFill>
                                      <a:latin typeface="Cambria Math" panose="02040503050406030204" pitchFamily="18" charset="0"/>
                                      <a:ea typeface="Calibri"/>
                                      <a:cs typeface="Calibri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pt-BR" sz="3600" i="1" dirty="0" smtClean="0">
                                      <a:solidFill>
                                        <a:srgbClr val="111111"/>
                                      </a:solidFill>
                                      <a:latin typeface="Cambria Math" panose="02040503050406030204" pitchFamily="18" charset="0"/>
                                      <a:ea typeface="Calibri"/>
                                      <a:cs typeface="Calibri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pt-BR" sz="3600" i="1" dirty="0" smtClean="0">
                                      <a:solidFill>
                                        <a:srgbClr val="111111"/>
                                      </a:solidFill>
                                      <a:latin typeface="Cambria Math" panose="02040503050406030204" pitchFamily="18" charset="0"/>
                                      <a:ea typeface="Calibri"/>
                                      <a:cs typeface="Calibri"/>
                                    </a:rPr>
                                  </m:ctrlPr>
                                </m:sSubPr>
                                <m:e>
                                  <m:r>
                                    <a:rPr lang="pt-BR" sz="3600" i="1" dirty="0" smtClean="0">
                                      <a:solidFill>
                                        <a:srgbClr val="111111"/>
                                      </a:solidFill>
                                      <a:latin typeface="Cambria Math" panose="02040503050406030204" pitchFamily="18" charset="0"/>
                                      <a:ea typeface="Calibri"/>
                                      <a:cs typeface="Calibri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pt-BR" sz="3600" i="1" dirty="0" smtClean="0">
                                      <a:solidFill>
                                        <a:srgbClr val="111111"/>
                                      </a:solidFill>
                                      <a:latin typeface="Cambria Math" panose="02040503050406030204" pitchFamily="18" charset="0"/>
                                      <a:ea typeface="Calibri"/>
                                      <a:cs typeface="Calibri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rad>
                        </m:e>
                      </m:d>
                      <m:r>
                        <a:rPr lang="pt-BR" sz="36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Calibri"/>
                          <a:cs typeface="Calibri"/>
                        </a:rPr>
                        <m:t>, </m:t>
                      </m:r>
                      <m:r>
                        <a:rPr lang="pt-BR" sz="36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Calibri"/>
                          <a:cs typeface="Calibri"/>
                        </a:rPr>
                        <m:t>𝑑</m:t>
                      </m:r>
                      <m:r>
                        <a:rPr lang="pt-BR" sz="36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Calibri"/>
                          <a:cs typeface="Calibri"/>
                        </a:rPr>
                        <m:t>∈</m:t>
                      </m:r>
                      <m:r>
                        <a:rPr lang="pt-BR" sz="36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Calibri"/>
                          <a:cs typeface="Calibri"/>
                        </a:rPr>
                        <m:t>𝑍</m:t>
                      </m:r>
                      <m:r>
                        <a:rPr lang="pt-BR" sz="3600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Calibri"/>
                          <a:cs typeface="Calibri"/>
                        </a:rPr>
                        <m:t>,</m:t>
                      </m:r>
                    </m:oMath>
                  </m:oMathPara>
                </a14:m>
                <a:endParaRPr lang="pt-BR" sz="3600" i="1" dirty="0">
                  <a:solidFill>
                    <a:srgbClr val="111111"/>
                  </a:solidFill>
                  <a:latin typeface="Cambria Math" panose="02040503050406030204" pitchFamily="18" charset="0"/>
                  <a:ea typeface="Calibri"/>
                  <a:cs typeface="Calibri"/>
                </a:endParaRPr>
              </a:p>
              <a:p>
                <a:pPr algn="just">
                  <a:lnSpc>
                    <a:spcPct val="108000"/>
                  </a:lnSpc>
                  <a:defRPr sz="3600" b="0">
                    <a:solidFill>
                      <a:srgbClr val="111111"/>
                    </a:solidFill>
                    <a:latin typeface="Calibri"/>
                    <a:ea typeface="Calibri"/>
                    <a:cs typeface="Calibri"/>
                  </a:defRPr>
                </a:pPr>
                <a:r>
                  <a:rPr lang="pt-BR" sz="3200" dirty="0">
                    <a:solidFill>
                      <a:srgbClr val="11111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Calibri"/>
                  </a:rPr>
                  <a:t>em que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3200" i="1" dirty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pt-BR" sz="3200" i="1" dirty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/>
                          </a:rPr>
                          <m:t>I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pt-BR" sz="3200" i="1" dirty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/>
                          </a:rPr>
                          <m:t>d</m:t>
                        </m:r>
                      </m:sub>
                    </m:sSub>
                    <m:d>
                      <m:dPr>
                        <m:ctrlPr>
                          <a:rPr lang="pt-BR" sz="3200" i="1" dirty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/>
                          </a:rPr>
                        </m:ctrlPr>
                      </m:dPr>
                      <m:e>
                        <m:r>
                          <a:rPr lang="pt-BR" sz="3200" i="1" dirty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/>
                          </a:rPr>
                          <m:t>∙</m:t>
                        </m:r>
                      </m:e>
                    </m:d>
                  </m:oMath>
                </a14:m>
                <a:r>
                  <a:rPr lang="pt-BR" sz="3200" dirty="0">
                    <a:solidFill>
                      <a:srgbClr val="11111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Calibri"/>
                  </a:rPr>
                  <a:t> denota a função de Bessel modificada de primeira espécie de ordem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sz="3200" b="0" i="1" smtClean="0">
                        <a:solidFill>
                          <a:srgbClr val="11111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/>
                      </a:rPr>
                      <m:t>d</m:t>
                    </m:r>
                  </m:oMath>
                </a14:m>
                <a:r>
                  <a:rPr lang="pt-BR" sz="3200" dirty="0">
                    <a:solidFill>
                      <a:srgbClr val="11111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Calibri"/>
                  </a:rPr>
                  <a:t>.</a:t>
                </a:r>
              </a:p>
            </p:txBody>
          </p:sp>
        </mc:Choice>
        <mc:Fallback xmlns="">
          <p:sp>
            <p:nvSpPr>
              <p:cNvPr id="1022" name="weibull-def">
                <a:extLst>
                  <a:ext uri="{FF2B5EF4-FFF2-40B4-BE49-F238E27FC236}">
                    <a16:creationId xmlns:a16="http://schemas.microsoft.com/office/drawing/2014/main" id="{58299515-B8F8-4F17-8459-0DF6008A6B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0116" y="31042606"/>
                <a:ext cx="13334990" cy="4895366"/>
              </a:xfrm>
              <a:prstGeom prst="rect">
                <a:avLst/>
              </a:prstGeom>
              <a:blipFill>
                <a:blip r:embed="rId7"/>
                <a:stretch>
                  <a:fillRect l="-1828" t="-2491" r="-1828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3" name="estimacao">
            <a:extLst>
              <a:ext uri="{FF2B5EF4-FFF2-40B4-BE49-F238E27FC236}">
                <a16:creationId xmlns:a16="http://schemas.microsoft.com/office/drawing/2014/main" id="{0B4B401F-3287-4E77-A358-9357815770F1}"/>
              </a:ext>
            </a:extLst>
          </p:cNvPr>
          <p:cNvSpPr>
            <a:spLocks noGrp="1"/>
          </p:cNvSpPr>
          <p:nvPr/>
        </p:nvSpPr>
        <p:spPr>
          <a:xfrm>
            <a:off x="1000106" y="39810930"/>
            <a:ext cx="13335000" cy="224089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just">
              <a:lnSpc>
                <a:spcPct val="108000"/>
              </a:lnSpc>
              <a:buNone/>
              <a:defRPr sz="36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lang="pt-BR" sz="3200" dirty="0">
                <a:solidFill>
                  <a:srgbClr val="11111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Os parâmetros foram estimádos pelo método da máxima verossimilhança, no </a:t>
            </a:r>
            <a:r>
              <a:rPr lang="pt-BR" sz="3200" i="1" dirty="0">
                <a:solidFill>
                  <a:srgbClr val="11111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software</a:t>
            </a:r>
            <a:r>
              <a:rPr lang="pt-BR" sz="3200" dirty="0">
                <a:solidFill>
                  <a:srgbClr val="11111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 R.</a:t>
            </a:r>
            <a:r>
              <a:rPr sz="3200" b="0" dirty="0">
                <a:solidFill>
                  <a:srgbClr val="11111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 </a:t>
            </a:r>
            <a:r>
              <a:rPr lang="pt-BR" sz="3200" b="0" dirty="0">
                <a:solidFill>
                  <a:srgbClr val="11111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Os modelos foram camparados pelos critérios de informação,</a:t>
            </a:r>
            <a:r>
              <a:rPr sz="3200" b="0" dirty="0">
                <a:solidFill>
                  <a:srgbClr val="11111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 </a:t>
            </a:r>
            <a:r>
              <a:rPr lang="pt-BR" sz="32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Akaike Information Criterion </a:t>
            </a:r>
            <a:r>
              <a:rPr lang="pt-BR" sz="3200" dirty="0">
                <a:latin typeface="Cambria Math" panose="02040503050406030204" pitchFamily="18" charset="0"/>
                <a:ea typeface="Cambria Math" panose="02040503050406030204" pitchFamily="18" charset="0"/>
              </a:rPr>
              <a:t>(AIC), </a:t>
            </a:r>
            <a:r>
              <a:rPr lang="pt-BR" sz="32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Bayesian Information Criterion </a:t>
            </a:r>
            <a:r>
              <a:rPr lang="pt-BR" sz="3200" dirty="0">
                <a:latin typeface="Cambria Math" panose="02040503050406030204" pitchFamily="18" charset="0"/>
                <a:ea typeface="Cambria Math" panose="02040503050406030204" pitchFamily="18" charset="0"/>
              </a:rPr>
              <a:t>(BIC)</a:t>
            </a:r>
            <a:r>
              <a:rPr lang="pt-BR" sz="36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sz="3200" b="0" dirty="0">
                <a:solidFill>
                  <a:srgbClr val="11111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 e</a:t>
            </a:r>
            <a:r>
              <a:rPr lang="pt-BR" sz="3200" b="0" dirty="0">
                <a:solidFill>
                  <a:srgbClr val="11111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 inspeção gráfica.</a:t>
            </a:r>
            <a:endParaRPr sz="3200" b="0" dirty="0">
              <a:solidFill>
                <a:srgbClr val="111111"/>
              </a:solidFill>
              <a:latin typeface="Cambria Math" panose="02040503050406030204" pitchFamily="18" charset="0"/>
              <a:ea typeface="Cambria Math" panose="02040503050406030204" pitchFamily="18" charset="0"/>
              <a:cs typeface="Calibri"/>
            </a:endParaRPr>
          </a:p>
        </p:txBody>
      </p:sp>
      <p:sp>
        <p:nvSpPr>
          <p:cNvPr id="1027" name="resultados">
            <a:extLst>
              <a:ext uri="{FF2B5EF4-FFF2-40B4-BE49-F238E27FC236}">
                <a16:creationId xmlns:a16="http://schemas.microsoft.com/office/drawing/2014/main" id="{1F872E2D-AC5B-4376-8206-313978FFD736}"/>
              </a:ext>
            </a:extLst>
          </p:cNvPr>
          <p:cNvSpPr>
            <a:spLocks noGrp="1"/>
          </p:cNvSpPr>
          <p:nvPr/>
        </p:nvSpPr>
        <p:spPr>
          <a:xfrm>
            <a:off x="17192625" y="11334750"/>
            <a:ext cx="1419225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4400" b="1">
                <a:solidFill>
                  <a:srgbClr val="3E6395"/>
                </a:solidFill>
                <a:latin typeface="Calibri"/>
                <a:ea typeface="Calibri"/>
                <a:cs typeface="Calibri"/>
              </a:defRPr>
            </a:pPr>
            <a:r>
              <a:rPr sz="4400" b="1">
                <a:solidFill>
                  <a:srgbClr val="3E6395"/>
                </a:solidFill>
                <a:latin typeface="Calibri"/>
                <a:ea typeface="Calibri"/>
                <a:cs typeface="Calibri"/>
              </a:rPr>
              <a:t>RESULTADOS E DISCUSSÃO</a:t>
            </a:r>
          </a:p>
        </p:txBody>
      </p:sp>
      <p:sp>
        <p:nvSpPr>
          <p:cNvPr id="1028" name="resultados-rule">
            <a:extLst>
              <a:ext uri="{FF2B5EF4-FFF2-40B4-BE49-F238E27FC236}">
                <a16:creationId xmlns:a16="http://schemas.microsoft.com/office/drawing/2014/main" id="{593633A3-85DF-4B0B-ADE7-CE4797379229}"/>
              </a:ext>
            </a:extLst>
          </p:cNvPr>
          <p:cNvSpPr>
            <a:spLocks noGrp="1"/>
          </p:cNvSpPr>
          <p:nvPr/>
        </p:nvSpPr>
        <p:spPr>
          <a:xfrm>
            <a:off x="17192625" y="12115800"/>
            <a:ext cx="14192250" cy="0"/>
          </a:xfrm>
          <a:prstGeom prst="line">
            <a:avLst/>
          </a:prstGeom>
          <a:noFill/>
          <a:ln w="38100">
            <a:solidFill>
              <a:srgbClr val="3E6395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029" name="descritiva-name">
            <a:extLst>
              <a:ext uri="{FF2B5EF4-FFF2-40B4-BE49-F238E27FC236}">
                <a16:creationId xmlns:a16="http://schemas.microsoft.com/office/drawing/2014/main" id="{8CC4A7AD-269A-46C9-8416-4465DFD531F9}"/>
              </a:ext>
            </a:extLst>
          </p:cNvPr>
          <p:cNvSpPr>
            <a:spLocks noGrp="1"/>
          </p:cNvSpPr>
          <p:nvPr/>
        </p:nvSpPr>
        <p:spPr>
          <a:xfrm>
            <a:off x="17192621" y="12135884"/>
            <a:ext cx="1419225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600" b="1">
                <a:solidFill>
                  <a:srgbClr val="3E6395"/>
                </a:solidFill>
                <a:latin typeface="Calibri"/>
                <a:ea typeface="Calibri"/>
                <a:cs typeface="Calibri"/>
              </a:defRPr>
            </a:pPr>
            <a:r>
              <a:rPr sz="3600" b="1" dirty="0">
                <a:solidFill>
                  <a:srgbClr val="3E6395"/>
                </a:solidFill>
                <a:latin typeface="Calibri"/>
                <a:ea typeface="Calibri"/>
                <a:cs typeface="Calibri"/>
              </a:rPr>
              <a:t>A</a:t>
            </a:r>
            <a:r>
              <a:rPr lang="pt-BR" sz="3600" b="1" dirty="0">
                <a:solidFill>
                  <a:srgbClr val="3E6395"/>
                </a:solidFill>
                <a:latin typeface="Calibri"/>
                <a:ea typeface="Calibri"/>
                <a:cs typeface="Calibri"/>
              </a:rPr>
              <a:t>nálise descritiva</a:t>
            </a:r>
            <a:endParaRPr sz="3600" b="1" dirty="0">
              <a:solidFill>
                <a:srgbClr val="3E6395"/>
              </a:solidFill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1073" name="Tabela 1072"/>
          <p:cNvGraphicFramePr/>
          <p:nvPr>
            <p:extLst>
              <p:ext uri="{D42A27DB-BD31-4B8C-83A1-F6EECF244321}">
                <p14:modId xmlns:p14="http://schemas.microsoft.com/office/powerpoint/2010/main" val="3854831112"/>
              </p:ext>
            </p:extLst>
          </p:nvPr>
        </p:nvGraphicFramePr>
        <p:xfrm>
          <a:off x="17271541" y="20532008"/>
          <a:ext cx="14271166" cy="3632019"/>
        </p:xfrm>
        <a:graphic>
          <a:graphicData uri="http://schemas.openxmlformats.org/drawingml/2006/table">
            <a:tbl>
              <a:tblPr/>
              <a:tblGrid>
                <a:gridCol w="74708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001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001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97230">
                <a:tc>
                  <a:txBody>
                    <a:bodyPr/>
                    <a:lstStyle/>
                    <a:p>
                      <a:pPr algn="ctr"/>
                      <a:r>
                        <a:rPr sz="3200" b="1" dirty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/>
                        </a:rPr>
                        <a:t>M</a:t>
                      </a:r>
                      <a:r>
                        <a:rPr lang="pt-BR" sz="3200" b="1" dirty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/>
                        </a:rPr>
                        <a:t>odelo</a:t>
                      </a:r>
                      <a:endParaRPr sz="3200" b="1" dirty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/>
                      </a:endParaRPr>
                    </a:p>
                  </a:txBody>
                  <a:tcPr marL="171450" marR="114300" marT="114300" marB="114300" anchor="ctr">
                    <a:solidFill>
                      <a:srgbClr val="3E639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3200" b="1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/>
                        </a:rPr>
                        <a:t>AIC</a:t>
                      </a:r>
                    </a:p>
                  </a:txBody>
                  <a:tcPr marL="171450" marR="114300" marT="114300" marB="114300" anchor="ctr">
                    <a:solidFill>
                      <a:srgbClr val="3E639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3200" b="1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/>
                        </a:rPr>
                        <a:t>BIC</a:t>
                      </a:r>
                    </a:p>
                  </a:txBody>
                  <a:tcPr marL="171450" marR="114300" marT="114300" marB="114300" anchor="ctr">
                    <a:solidFill>
                      <a:srgbClr val="3E639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4722">
                <a:tc>
                  <a:txBody>
                    <a:bodyPr/>
                    <a:lstStyle/>
                    <a:p>
                      <a:pPr algn="l"/>
                      <a:r>
                        <a:rPr sz="3200" b="1" dirty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/>
                        </a:rPr>
                        <a:t>S</a:t>
                      </a:r>
                      <a:r>
                        <a:rPr lang="pt-BR" sz="3200" b="1" dirty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/>
                        </a:rPr>
                        <a:t>kellam</a:t>
                      </a:r>
                      <a:endParaRPr sz="3200" b="1" dirty="0">
                        <a:solidFill>
                          <a:srgbClr val="11111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/>
                      </a:endParaRPr>
                    </a:p>
                  </a:txBody>
                  <a:tcPr marL="171450" marR="114300" marT="114300" marB="114300" anchor="ctr"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3200" b="1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/>
                        </a:rPr>
                        <a:t>4578,40</a:t>
                      </a:r>
                    </a:p>
                  </a:txBody>
                  <a:tcPr marL="171450" marR="114300" marT="114300" marB="114300" anchor="ctr"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3200" b="1" dirty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/>
                        </a:rPr>
                        <a:t>4587,66</a:t>
                      </a:r>
                    </a:p>
                  </a:txBody>
                  <a:tcPr marL="171450" marR="114300" marT="114300" marB="114300" anchor="ctr">
                    <a:solidFill>
                      <a:srgbClr val="ED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pPr algn="l"/>
                      <a:r>
                        <a:rPr sz="3200" b="0" dirty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/>
                        </a:rPr>
                        <a:t>Normal </a:t>
                      </a:r>
                      <a:r>
                        <a:rPr lang="pt-BR" sz="3200" b="0" dirty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/>
                        </a:rPr>
                        <a:t>discreta</a:t>
                      </a:r>
                      <a:endParaRPr sz="3200" b="0" dirty="0">
                        <a:solidFill>
                          <a:srgbClr val="11111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/>
                      </a:endParaRPr>
                    </a:p>
                  </a:txBody>
                  <a:tcPr marL="171450" marR="1143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3200" b="0" dirty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/>
                        </a:rPr>
                        <a:t>4579,16</a:t>
                      </a:r>
                    </a:p>
                  </a:txBody>
                  <a:tcPr marL="171450" marR="1143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3200" b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/>
                        </a:rPr>
                        <a:t>4588,43</a:t>
                      </a:r>
                    </a:p>
                  </a:txBody>
                  <a:tcPr marL="171450" marR="114300" marT="114300" marB="1143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3200" b="0" dirty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/>
                        </a:rPr>
                        <a:t>Diferença Weibull </a:t>
                      </a:r>
                      <a:r>
                        <a:rPr lang="pt-BR" sz="3200" b="0" dirty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/>
                        </a:rPr>
                        <a:t>discreta</a:t>
                      </a:r>
                      <a:endParaRPr sz="3200" b="0" dirty="0">
                        <a:solidFill>
                          <a:srgbClr val="11111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/>
                      </a:endParaRPr>
                    </a:p>
                  </a:txBody>
                  <a:tcPr marL="171450" marR="1143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3200" b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/>
                        </a:rPr>
                        <a:t>4580,07</a:t>
                      </a:r>
                    </a:p>
                  </a:txBody>
                  <a:tcPr marL="171450" marR="1143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3200" b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/>
                        </a:rPr>
                        <a:t>4598,60</a:t>
                      </a:r>
                    </a:p>
                  </a:txBody>
                  <a:tcPr marL="171450" marR="114300" marT="114300" marB="1143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2663">
                <a:tc>
                  <a:txBody>
                    <a:bodyPr/>
                    <a:lstStyle/>
                    <a:p>
                      <a:pPr algn="l"/>
                      <a:r>
                        <a:rPr sz="3200" b="0" i="1" dirty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/>
                        </a:rPr>
                        <a:t>Skew</a:t>
                      </a:r>
                      <a:r>
                        <a:rPr sz="3200" b="0" dirty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/>
                        </a:rPr>
                        <a:t>-normal </a:t>
                      </a:r>
                      <a:r>
                        <a:rPr lang="pt-BR" sz="3200" b="0" dirty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/>
                        </a:rPr>
                        <a:t>discreta</a:t>
                      </a:r>
                      <a:endParaRPr sz="3200" b="0" dirty="0">
                        <a:solidFill>
                          <a:srgbClr val="11111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/>
                      </a:endParaRPr>
                    </a:p>
                  </a:txBody>
                  <a:tcPr marL="171450" marR="1143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3200" b="0" dirty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/>
                        </a:rPr>
                        <a:t>4581,01</a:t>
                      </a:r>
                    </a:p>
                  </a:txBody>
                  <a:tcPr marL="171450" marR="1143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3200" b="0" dirty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/>
                        </a:rPr>
                        <a:t>4594,91</a:t>
                      </a:r>
                    </a:p>
                  </a:txBody>
                  <a:tcPr marL="171450" marR="114300" marT="114300" marB="1143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37" name="conclusao">
            <a:extLst>
              <a:ext uri="{FF2B5EF4-FFF2-40B4-BE49-F238E27FC236}">
                <a16:creationId xmlns:a16="http://schemas.microsoft.com/office/drawing/2014/main" id="{9B903F8C-3ED9-4B2C-B58F-FB781E3A3219}"/>
              </a:ext>
            </a:extLst>
          </p:cNvPr>
          <p:cNvSpPr>
            <a:spLocks noGrp="1"/>
          </p:cNvSpPr>
          <p:nvPr/>
        </p:nvSpPr>
        <p:spPr>
          <a:xfrm>
            <a:off x="17075600" y="31534683"/>
            <a:ext cx="1419225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4400" b="1">
                <a:solidFill>
                  <a:srgbClr val="3E6395"/>
                </a:solidFill>
                <a:latin typeface="Calibri"/>
                <a:ea typeface="Calibri"/>
                <a:cs typeface="Calibri"/>
              </a:defRPr>
            </a:pPr>
            <a:r>
              <a:rPr sz="4400" b="1" dirty="0">
                <a:solidFill>
                  <a:srgbClr val="3E6395"/>
                </a:solidFill>
                <a:latin typeface="Calibri"/>
                <a:ea typeface="Calibri"/>
                <a:cs typeface="Calibri"/>
              </a:rPr>
              <a:t>CONCLUSÃO</a:t>
            </a:r>
          </a:p>
        </p:txBody>
      </p:sp>
      <p:sp>
        <p:nvSpPr>
          <p:cNvPr id="1038" name="conclusao-rule">
            <a:extLst>
              <a:ext uri="{FF2B5EF4-FFF2-40B4-BE49-F238E27FC236}">
                <a16:creationId xmlns:a16="http://schemas.microsoft.com/office/drawing/2014/main" id="{6ED186D8-0FD4-45FF-A514-C022A139E936}"/>
              </a:ext>
            </a:extLst>
          </p:cNvPr>
          <p:cNvSpPr>
            <a:spLocks noGrp="1"/>
          </p:cNvSpPr>
          <p:nvPr/>
        </p:nvSpPr>
        <p:spPr>
          <a:xfrm>
            <a:off x="17075600" y="32296683"/>
            <a:ext cx="14192250" cy="0"/>
          </a:xfrm>
          <a:prstGeom prst="line">
            <a:avLst/>
          </a:prstGeom>
          <a:noFill/>
          <a:ln w="38100">
            <a:solidFill>
              <a:srgbClr val="3E6395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039" name="conclusion-text">
            <a:extLst>
              <a:ext uri="{FF2B5EF4-FFF2-40B4-BE49-F238E27FC236}">
                <a16:creationId xmlns:a16="http://schemas.microsoft.com/office/drawing/2014/main" id="{46DB8E3E-6270-4B9F-BB58-F5AE00041219}"/>
              </a:ext>
            </a:extLst>
          </p:cNvPr>
          <p:cNvSpPr>
            <a:spLocks noGrp="1"/>
          </p:cNvSpPr>
          <p:nvPr/>
        </p:nvSpPr>
        <p:spPr>
          <a:xfrm>
            <a:off x="17075600" y="32402634"/>
            <a:ext cx="14192250" cy="218562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just">
              <a:buNone/>
              <a:defRPr sz="36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200" b="0" dirty="0">
                <a:solidFill>
                  <a:srgbClr val="11111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Entre </a:t>
            </a:r>
            <a:r>
              <a:rPr lang="pt-BR" sz="3200" dirty="0">
                <a:solidFill>
                  <a:srgbClr val="11111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os</a:t>
            </a:r>
            <a:r>
              <a:rPr sz="3200" b="0" dirty="0">
                <a:solidFill>
                  <a:srgbClr val="11111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 </a:t>
            </a:r>
            <a:r>
              <a:rPr lang="pt-BR" sz="3200" b="0" dirty="0">
                <a:solidFill>
                  <a:srgbClr val="11111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modelos</a:t>
            </a:r>
            <a:r>
              <a:rPr sz="3200" b="0" dirty="0">
                <a:solidFill>
                  <a:srgbClr val="11111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 </a:t>
            </a:r>
            <a:r>
              <a:rPr lang="pt-BR" sz="3200" b="0" dirty="0">
                <a:solidFill>
                  <a:srgbClr val="11111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avaliados</a:t>
            </a:r>
            <a:r>
              <a:rPr sz="3200" b="0" dirty="0">
                <a:solidFill>
                  <a:srgbClr val="11111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, a </a:t>
            </a:r>
            <a:r>
              <a:rPr lang="pt-BR" sz="3200" b="0" dirty="0">
                <a:solidFill>
                  <a:srgbClr val="11111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/>
              </a:rPr>
              <a:t>Skellam apresentou os menores valores dos critérios de informação, com pequena diferença em relação a normal discreta. Os resultados favorecem sua utilização para descrever a diferença de gols por rodada no período analisado. </a:t>
            </a:r>
            <a:endParaRPr sz="3200" b="0" dirty="0">
              <a:solidFill>
                <a:srgbClr val="111111"/>
              </a:solidFill>
              <a:latin typeface="Cambria Math" panose="02040503050406030204" pitchFamily="18" charset="0"/>
              <a:ea typeface="Cambria Math" panose="02040503050406030204" pitchFamily="18" charset="0"/>
              <a:cs typeface="Calibri"/>
            </a:endParaRPr>
          </a:p>
        </p:txBody>
      </p:sp>
      <p:sp>
        <p:nvSpPr>
          <p:cNvPr id="1040" name="agradecimentos">
            <a:extLst>
              <a:ext uri="{FF2B5EF4-FFF2-40B4-BE49-F238E27FC236}">
                <a16:creationId xmlns:a16="http://schemas.microsoft.com/office/drawing/2014/main" id="{3A1B7222-B1F6-4FCE-AB42-E3BC344BB017}"/>
              </a:ext>
            </a:extLst>
          </p:cNvPr>
          <p:cNvSpPr>
            <a:spLocks noGrp="1"/>
          </p:cNvSpPr>
          <p:nvPr/>
        </p:nvSpPr>
        <p:spPr>
          <a:xfrm flipV="1">
            <a:off x="23819995" y="79543693"/>
            <a:ext cx="6260584" cy="45719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4400" b="1">
                <a:solidFill>
                  <a:srgbClr val="3E6395"/>
                </a:solidFill>
                <a:latin typeface="Calibri"/>
                <a:ea typeface="Calibri"/>
                <a:cs typeface="Calibri"/>
              </a:defRPr>
            </a:pPr>
            <a:r>
              <a:rPr sz="4400" b="1" dirty="0">
                <a:solidFill>
                  <a:srgbClr val="3E6395"/>
                </a:solidFill>
                <a:latin typeface="Calibri"/>
                <a:ea typeface="Calibri"/>
                <a:cs typeface="Calibri"/>
              </a:rPr>
              <a:t>AGRADECIMENTOS</a:t>
            </a:r>
          </a:p>
        </p:txBody>
      </p:sp>
      <p:sp>
        <p:nvSpPr>
          <p:cNvPr id="1041" name="agradecimentos-rule">
            <a:extLst>
              <a:ext uri="{FF2B5EF4-FFF2-40B4-BE49-F238E27FC236}">
                <a16:creationId xmlns:a16="http://schemas.microsoft.com/office/drawing/2014/main" id="{9336DFD9-7EF4-44F9-BD6E-BAE4A636C299}"/>
              </a:ext>
            </a:extLst>
          </p:cNvPr>
          <p:cNvSpPr>
            <a:spLocks noGrp="1"/>
          </p:cNvSpPr>
          <p:nvPr/>
        </p:nvSpPr>
        <p:spPr>
          <a:xfrm>
            <a:off x="17232082" y="40327626"/>
            <a:ext cx="14192250" cy="0"/>
          </a:xfrm>
          <a:prstGeom prst="line">
            <a:avLst/>
          </a:prstGeom>
          <a:noFill/>
          <a:ln w="38100">
            <a:solidFill>
              <a:srgbClr val="3E6395"/>
            </a:solidFill>
          </a:ln>
        </p:spPr>
        <p:txBody>
          <a:bodyPr/>
          <a:lstStyle/>
          <a:p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timacao">
                <a:extLst>
                  <a:ext uri="{FF2B5EF4-FFF2-40B4-BE49-F238E27FC236}">
                    <a16:creationId xmlns:a16="http://schemas.microsoft.com/office/drawing/2014/main" id="{5E21634D-1666-1958-B8F2-FA7AA0BCDD4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019175" y="36629654"/>
                <a:ext cx="13335000" cy="2982202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t">
                <a:noAutofit/>
              </a:bodyPr>
              <a:lstStyle/>
              <a:p>
                <a:pPr>
                  <a:lnSpc>
                    <a:spcPct val="108000"/>
                  </a:lnSpc>
                  <a:defRPr sz="3600" b="0">
                    <a:solidFill>
                      <a:srgbClr val="111111"/>
                    </a:solidFill>
                    <a:latin typeface="Calibri"/>
                    <a:ea typeface="Calibri"/>
                    <a:cs typeface="Calibri"/>
                  </a:defRPr>
                </a:pPr>
                <a:r>
                  <a:rPr lang="pt-BR" sz="3200" b="0" dirty="0">
                    <a:solidFill>
                      <a:srgbClr val="11111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Calibri"/>
                  </a:rPr>
                  <a:t>Sejam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sz="3200" b="0" i="1" smtClean="0">
                        <a:solidFill>
                          <a:srgbClr val="11111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/>
                      </a:rPr>
                      <m:t>X</m:t>
                    </m:r>
                    <m:r>
                      <a:rPr lang="pt-BR" sz="3200" b="0" i="1" smtClean="0">
                        <a:solidFill>
                          <a:srgbClr val="11111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/>
                      </a:rPr>
                      <m:t>~</m:t>
                    </m:r>
                    <m:r>
                      <m:rPr>
                        <m:sty m:val="p"/>
                      </m:rPr>
                      <a:rPr lang="pt-BR" sz="3200" b="0" i="1" smtClean="0">
                        <a:solidFill>
                          <a:srgbClr val="11111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/>
                      </a:rPr>
                      <m:t>WD</m:t>
                    </m:r>
                    <m:d>
                      <m:dPr>
                        <m:ctrlPr>
                          <a:rPr lang="pt-BR" sz="3200" b="0" i="1" smtClean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sz="3200" b="0" i="1" smtClean="0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pt-BR" sz="3200" b="0" i="1" smtClean="0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/>
                              </a:rPr>
                              <m:t>q</m:t>
                            </m:r>
                          </m:e>
                          <m:sub>
                            <m:r>
                              <a:rPr lang="pt-BR" sz="3200" b="0" i="1" smtClean="0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/>
                              </a:rPr>
                              <m:t>1</m:t>
                            </m:r>
                          </m:sub>
                        </m:sSub>
                        <m:r>
                          <a:rPr lang="pt-BR" sz="3200" b="0" i="1" smtClean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/>
                          </a:rPr>
                          <m:t>,</m:t>
                        </m:r>
                        <m:sSup>
                          <m:sSupPr>
                            <m:ctrlPr>
                              <a:rPr lang="pt-BR" sz="3200" b="0" i="1" smtClean="0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/>
                              </a:rPr>
                            </m:ctrlPr>
                          </m:sSupPr>
                          <m:e>
                            <m:r>
                              <a:rPr lang="pt-BR" sz="3200" b="0" i="1" smtClean="0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/>
                              </a:rPr>
                              <m:t>𝛽</m:t>
                            </m:r>
                          </m:e>
                          <m:sup>
                            <m:r>
                              <a:rPr lang="pt-BR" sz="3200" b="0" i="1" smtClean="0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/>
                              </a:rPr>
                              <m:t>1</m:t>
                            </m:r>
                          </m:sup>
                        </m:sSup>
                      </m:e>
                    </m:d>
                  </m:oMath>
                </a14:m>
                <a:r>
                  <a:rPr lang="pt-BR" sz="3200" b="0" dirty="0">
                    <a:solidFill>
                      <a:srgbClr val="11111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Calibri"/>
                  </a:rPr>
                  <a:t> 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sz="3200" i="1" dirty="0" smtClean="0">
                        <a:solidFill>
                          <a:srgbClr val="11111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/>
                      </a:rPr>
                      <m:t>Y</m:t>
                    </m:r>
                    <m:r>
                      <a:rPr lang="pt-BR" sz="3200" i="1">
                        <a:solidFill>
                          <a:srgbClr val="11111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/>
                      </a:rPr>
                      <m:t>~</m:t>
                    </m:r>
                    <m:r>
                      <m:rPr>
                        <m:sty m:val="p"/>
                      </m:rPr>
                      <a:rPr lang="pt-BR" sz="3200" i="1">
                        <a:solidFill>
                          <a:srgbClr val="11111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/>
                      </a:rPr>
                      <m:t>WD</m:t>
                    </m:r>
                    <m:d>
                      <m:dPr>
                        <m:ctrlPr>
                          <a:rPr lang="pt-BR" sz="3200" i="1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sz="3200" i="1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pt-BR" sz="3200" i="1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/>
                              </a:rPr>
                              <m:t>q</m:t>
                            </m:r>
                          </m:e>
                          <m:sub>
                            <m:r>
                              <a:rPr lang="pt-BR" sz="3200" b="0" i="1" smtClean="0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/>
                              </a:rPr>
                              <m:t>2</m:t>
                            </m:r>
                          </m:sub>
                        </m:sSub>
                        <m:r>
                          <a:rPr lang="pt-BR" sz="3200" i="1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/>
                          </a:rPr>
                          <m:t>,</m:t>
                        </m:r>
                        <m:sSup>
                          <m:sSupPr>
                            <m:ctrlPr>
                              <a:rPr lang="pt-BR" sz="3200" i="1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/>
                              </a:rPr>
                            </m:ctrlPr>
                          </m:sSupPr>
                          <m:e>
                            <m:r>
                              <a:rPr lang="pt-BR" sz="3200" i="1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/>
                              </a:rPr>
                              <m:t>𝛽</m:t>
                            </m:r>
                          </m:e>
                          <m:sup>
                            <m:r>
                              <a:rPr lang="pt-BR" sz="3200" b="0" i="1" smtClean="0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pt-BR" sz="3200" b="0" dirty="0">
                    <a:solidFill>
                      <a:srgbClr val="11111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Calibri"/>
                  </a:rPr>
                  <a:t> variáveis aleatórias independentes, em que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sz="3200" b="0" i="1" smtClean="0">
                        <a:solidFill>
                          <a:srgbClr val="11111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/>
                      </a:rPr>
                      <m:t>DW</m:t>
                    </m:r>
                    <m:d>
                      <m:dPr>
                        <m:ctrlPr>
                          <a:rPr lang="pt-BR" sz="3200" b="0" i="1" smtClean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/>
                          </a:rPr>
                        </m:ctrlPr>
                      </m:dPr>
                      <m:e>
                        <m:r>
                          <a:rPr lang="pt-BR" sz="3200" b="0" i="1" smtClean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/>
                          </a:rPr>
                          <m:t>∙</m:t>
                        </m:r>
                      </m:e>
                    </m:d>
                  </m:oMath>
                </a14:m>
                <a:r>
                  <a:rPr lang="pt-BR" sz="3200" b="0" dirty="0">
                    <a:solidFill>
                      <a:srgbClr val="11111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Calibri"/>
                  </a:rPr>
                  <a:t> denota a distribuição Weibull discreta de </a:t>
                </a:r>
                <a:r>
                  <a:rPr lang="pt-BR" sz="3200" dirty="0">
                    <a:solidFill>
                      <a:srgbClr val="11111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Calibri"/>
                  </a:rPr>
                  <a:t>Nakagawa e Osaki (1975)</a:t>
                </a:r>
                <a:r>
                  <a:rPr lang="pt-BR" sz="3200" b="0" dirty="0">
                    <a:solidFill>
                      <a:srgbClr val="11111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Calibri"/>
                  </a:rPr>
                  <a:t> cuja função de probabilidade é dada por;</a:t>
                </a:r>
              </a:p>
              <a:p>
                <a:pPr algn="ctr">
                  <a:lnSpc>
                    <a:spcPct val="108000"/>
                  </a:lnSpc>
                  <a:defRPr sz="3600" b="0">
                    <a:solidFill>
                      <a:srgbClr val="111111"/>
                    </a:solidFill>
                    <a:latin typeface="Calibri"/>
                    <a:ea typeface="Calibri"/>
                    <a:cs typeface="Calibri"/>
                  </a:defRPr>
                </a:pPr>
                <a:r>
                  <a:rPr lang="pt-BR" sz="3600" dirty="0">
                    <a:solidFill>
                      <a:srgbClr val="111111"/>
                    </a:solidFill>
                    <a:latin typeface="Calibri"/>
                    <a:ea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pt-BR" sz="3600" i="1" dirty="0" smtClean="0">
                        <a:solidFill>
                          <a:srgbClr val="111111"/>
                        </a:solidFill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𝑃</m:t>
                    </m:r>
                    <m:d>
                      <m:dPr>
                        <m:begChr m:val="["/>
                        <m:endChr m:val="]"/>
                        <m:ctrlPr>
                          <a:rPr lang="pt-BR" sz="3600" i="1" dirty="0" smtClean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</m:ctrlPr>
                      </m:dPr>
                      <m:e>
                        <m:r>
                          <a:rPr lang="pt-BR" sz="3600" i="1" dirty="0" smtClean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𝑋</m:t>
                        </m:r>
                        <m:r>
                          <a:rPr lang="pt-BR" sz="3600" i="1" dirty="0" smtClean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=</m:t>
                        </m:r>
                        <m:r>
                          <a:rPr lang="pt-BR" sz="3600" i="1" dirty="0" smtClean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𝑥</m:t>
                        </m:r>
                      </m:e>
                    </m:d>
                    <m:r>
                      <a:rPr lang="pt-BR" sz="3600" i="1" dirty="0" smtClean="0">
                        <a:solidFill>
                          <a:srgbClr val="111111"/>
                        </a:solidFill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=</m:t>
                    </m:r>
                    <m:sSup>
                      <m:sSupPr>
                        <m:ctrlPr>
                          <a:rPr lang="pt-BR" sz="3600" i="1" dirty="0" smtClean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</m:ctrlPr>
                      </m:sSupPr>
                      <m:e>
                        <m:r>
                          <a:rPr lang="pt-BR" sz="3600" i="1" dirty="0" smtClean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𝑞</m:t>
                        </m:r>
                      </m:e>
                      <m:sup>
                        <m:sSup>
                          <m:sSupPr>
                            <m:ctrlPr>
                              <a:rPr lang="pt-BR" sz="3600" i="1" dirty="0" smtClean="0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  <a:ea typeface="Calibri"/>
                                <a:cs typeface="Calibri"/>
                              </a:rPr>
                            </m:ctrlPr>
                          </m:sSupPr>
                          <m:e>
                            <m:r>
                              <a:rPr lang="pt-BR" sz="3600" i="1" dirty="0" smtClean="0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  <a:ea typeface="Calibri"/>
                                <a:cs typeface="Calibri"/>
                              </a:rPr>
                              <m:t>𝑥</m:t>
                            </m:r>
                          </m:e>
                          <m:sup>
                            <m:r>
                              <a:rPr lang="pt-BR" sz="3600" i="1" dirty="0" smtClean="0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  <a:ea typeface="Calibri"/>
                                <a:cs typeface="Calibri"/>
                              </a:rPr>
                              <m:t>𝛽</m:t>
                            </m:r>
                          </m:sup>
                        </m:sSup>
                      </m:sup>
                    </m:sSup>
                    <m:r>
                      <a:rPr lang="pt-BR" sz="3600" i="1" dirty="0" smtClean="0">
                        <a:solidFill>
                          <a:srgbClr val="111111"/>
                        </a:solidFill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−</m:t>
                    </m:r>
                    <m:sSup>
                      <m:sSupPr>
                        <m:ctrlPr>
                          <a:rPr lang="pt-BR" sz="3600" i="1" dirty="0" smtClean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</m:ctrlPr>
                      </m:sSupPr>
                      <m:e>
                        <m:r>
                          <a:rPr lang="pt-BR" sz="3600" i="1" dirty="0" smtClean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𝑞</m:t>
                        </m:r>
                      </m:e>
                      <m:sup>
                        <m:sSup>
                          <m:sSupPr>
                            <m:ctrlPr>
                              <a:rPr lang="pt-BR" sz="3600" i="1" dirty="0" smtClean="0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  <a:ea typeface="Calibri"/>
                                <a:cs typeface="Calibri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pt-BR" sz="3600" i="1" dirty="0" smtClean="0">
                                    <a:solidFill>
                                      <a:srgbClr val="111111"/>
                                    </a:solidFill>
                                    <a:latin typeface="Cambria Math" panose="02040503050406030204" pitchFamily="18" charset="0"/>
                                    <a:ea typeface="Calibri"/>
                                    <a:cs typeface="Calibri"/>
                                  </a:rPr>
                                </m:ctrlPr>
                              </m:dPr>
                              <m:e>
                                <m:r>
                                  <a:rPr lang="pt-BR" sz="3600" i="1" dirty="0" smtClean="0">
                                    <a:solidFill>
                                      <a:srgbClr val="111111"/>
                                    </a:solidFill>
                                    <a:latin typeface="Cambria Math" panose="02040503050406030204" pitchFamily="18" charset="0"/>
                                    <a:ea typeface="Calibri"/>
                                    <a:cs typeface="Calibri"/>
                                  </a:rPr>
                                  <m:t>𝑥</m:t>
                                </m:r>
                                <m:r>
                                  <a:rPr lang="pt-BR" sz="3600" i="1" dirty="0" smtClean="0">
                                    <a:solidFill>
                                      <a:srgbClr val="111111"/>
                                    </a:solidFill>
                                    <a:latin typeface="Cambria Math" panose="02040503050406030204" pitchFamily="18" charset="0"/>
                                    <a:ea typeface="Calibri"/>
                                    <a:cs typeface="Calibri"/>
                                  </a:rPr>
                                  <m:t>+</m:t>
                                </m:r>
                                <m:r>
                                  <a:rPr lang="pt-BR" sz="3600" i="1" dirty="0" smtClean="0">
                                    <a:solidFill>
                                      <a:srgbClr val="111111"/>
                                    </a:solidFill>
                                    <a:latin typeface="Cambria Math" panose="02040503050406030204" pitchFamily="18" charset="0"/>
                                    <a:ea typeface="Calibri"/>
                                    <a:cs typeface="Calibri"/>
                                  </a:rPr>
                                  <m:t>1</m:t>
                                </m:r>
                              </m:e>
                            </m:d>
                          </m:e>
                          <m:sup>
                            <m:r>
                              <a:rPr lang="pt-BR" sz="3600" i="1" dirty="0" smtClean="0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  <a:ea typeface="Calibri"/>
                                <a:cs typeface="Calibri"/>
                              </a:rPr>
                              <m:t>𝛽</m:t>
                            </m:r>
                          </m:sup>
                        </m:sSup>
                      </m:sup>
                    </m:sSup>
                    <m:r>
                      <a:rPr lang="pt-BR" sz="3600" i="1" dirty="0" smtClean="0">
                        <a:solidFill>
                          <a:srgbClr val="111111"/>
                        </a:solidFill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, </m:t>
                    </m:r>
                    <m:r>
                      <a:rPr lang="pt-BR" sz="3600" i="1" dirty="0" smtClean="0">
                        <a:solidFill>
                          <a:srgbClr val="111111"/>
                        </a:solidFill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𝑥</m:t>
                    </m:r>
                    <m:r>
                      <a:rPr lang="pt-BR" sz="3600" i="1" dirty="0" smtClean="0">
                        <a:solidFill>
                          <a:srgbClr val="111111"/>
                        </a:solidFill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∈</m:t>
                    </m:r>
                    <m:r>
                      <a:rPr lang="pt-BR" sz="3600" i="1" dirty="0" smtClean="0">
                        <a:solidFill>
                          <a:srgbClr val="111111"/>
                        </a:solidFill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𝑁</m:t>
                    </m:r>
                  </m:oMath>
                </a14:m>
                <a:endParaRPr lang="pt-BR" sz="3600" b="0" dirty="0">
                  <a:solidFill>
                    <a:srgbClr val="111111"/>
                  </a:solidFill>
                  <a:latin typeface="Calibri"/>
                  <a:ea typeface="Calibri"/>
                  <a:cs typeface="Calibri"/>
                </a:endParaRPr>
              </a:p>
              <a:p>
                <a:pPr>
                  <a:lnSpc>
                    <a:spcPct val="108000"/>
                  </a:lnSpc>
                  <a:defRPr sz="3600" b="0">
                    <a:solidFill>
                      <a:srgbClr val="111111"/>
                    </a:solidFill>
                    <a:latin typeface="Calibri"/>
                    <a:ea typeface="Calibri"/>
                    <a:cs typeface="Calibri"/>
                  </a:defRPr>
                </a:pPr>
                <a:r>
                  <a:rPr lang="pt-BR" sz="3600" b="0" dirty="0">
                    <a:solidFill>
                      <a:srgbClr val="111111"/>
                    </a:solidFill>
                    <a:latin typeface="Calibri"/>
                    <a:ea typeface="Calibri"/>
                    <a:cs typeface="Calibri"/>
                  </a:rPr>
                  <a:t>com </a:t>
                </a:r>
                <a14:m>
                  <m:oMath xmlns:m="http://schemas.openxmlformats.org/officeDocument/2006/math">
                    <m:r>
                      <a:rPr lang="pt-BR" sz="3600" b="0" i="0" smtClean="0">
                        <a:solidFill>
                          <a:srgbClr val="11111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/>
                      </a:rPr>
                      <m:t>0</m:t>
                    </m:r>
                    <m:r>
                      <a:rPr lang="pt-BR" sz="3600" b="0" i="1" smtClean="0">
                        <a:solidFill>
                          <a:srgbClr val="11111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/>
                      </a:rPr>
                      <m:t>&lt;</m:t>
                    </m:r>
                    <m:r>
                      <m:rPr>
                        <m:sty m:val="p"/>
                      </m:rPr>
                      <a:rPr lang="pt-BR" sz="3600" b="0" i="1" smtClean="0">
                        <a:solidFill>
                          <a:srgbClr val="111111"/>
                        </a:solidFill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q</m:t>
                    </m:r>
                    <m:r>
                      <a:rPr lang="pt-BR" sz="3600" i="1">
                        <a:solidFill>
                          <a:srgbClr val="11111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/>
                      </a:rPr>
                      <m:t>&lt;</m:t>
                    </m:r>
                    <m:r>
                      <a:rPr lang="pt-BR" sz="3600" b="0" i="1" smtClean="0">
                        <a:solidFill>
                          <a:srgbClr val="11111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/>
                      </a:rPr>
                      <m:t>1</m:t>
                    </m:r>
                  </m:oMath>
                </a14:m>
                <a:r>
                  <a:rPr lang="pt-BR" sz="3600" b="0" dirty="0">
                    <a:solidFill>
                      <a:srgbClr val="111111"/>
                    </a:solidFill>
                    <a:latin typeface="Calibri"/>
                    <a:ea typeface="Calibri"/>
                    <a:cs typeface="Calibri"/>
                  </a:rPr>
                  <a:t> e </a:t>
                </a:r>
                <a14:m>
                  <m:oMath xmlns:m="http://schemas.openxmlformats.org/officeDocument/2006/math">
                    <m:r>
                      <a:rPr lang="pt-BR" sz="3600" b="0" i="1" smtClean="0">
                        <a:solidFill>
                          <a:srgbClr val="11111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/>
                      </a:rPr>
                      <m:t>𝛽</m:t>
                    </m:r>
                    <m:r>
                      <a:rPr lang="pt-BR" sz="3600" b="0" i="1" smtClean="0">
                        <a:solidFill>
                          <a:srgbClr val="11111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/>
                      </a:rPr>
                      <m:t>&gt;</m:t>
                    </m:r>
                    <m:r>
                      <a:rPr lang="pt-BR" sz="3600" b="0" i="1" smtClean="0">
                        <a:solidFill>
                          <a:srgbClr val="11111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/>
                      </a:rPr>
                      <m:t>0</m:t>
                    </m:r>
                  </m:oMath>
                </a14:m>
                <a:r>
                  <a:rPr lang="pt-BR" sz="3600" b="0" dirty="0">
                    <a:solidFill>
                      <a:srgbClr val="111111"/>
                    </a:solidFill>
                    <a:latin typeface="Calibri"/>
                    <a:ea typeface="Calibri"/>
                    <a:cs typeface="Calibri"/>
                  </a:rPr>
                  <a:t>.</a:t>
                </a:r>
                <a:endParaRPr sz="3600" b="0" dirty="0">
                  <a:solidFill>
                    <a:srgbClr val="111111"/>
                  </a:solidFill>
                  <a:latin typeface="Calibri"/>
                  <a:ea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3" name="estimacao">
                <a:extLst>
                  <a:ext uri="{FF2B5EF4-FFF2-40B4-BE49-F238E27FC236}">
                    <a16:creationId xmlns:a16="http://schemas.microsoft.com/office/drawing/2014/main" id="{5E21634D-1666-1958-B8F2-FA7AA0BCDD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9175" y="36629654"/>
                <a:ext cx="13335000" cy="2982202"/>
              </a:xfrm>
              <a:prstGeom prst="rect">
                <a:avLst/>
              </a:prstGeom>
              <a:blipFill>
                <a:blip r:embed="rId8"/>
                <a:stretch>
                  <a:fillRect l="-2057" t="-4294" b="-5112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ela 3">
                <a:extLst>
                  <a:ext uri="{FF2B5EF4-FFF2-40B4-BE49-F238E27FC236}">
                    <a16:creationId xmlns:a16="http://schemas.microsoft.com/office/drawing/2014/main" id="{A867DD3D-647E-9800-DB44-3EE3082DC00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08648943"/>
                  </p:ext>
                </p:extLst>
              </p:nvPr>
            </p:nvGraphicFramePr>
            <p:xfrm>
              <a:off x="17192621" y="13715157"/>
              <a:ext cx="14192250" cy="148267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19225">
                      <a:extLst>
                        <a:ext uri="{9D8B030D-6E8A-4147-A177-3AD203B41FA5}">
                          <a16:colId xmlns:a16="http://schemas.microsoft.com/office/drawing/2014/main" val="2355216373"/>
                        </a:ext>
                      </a:extLst>
                    </a:gridCol>
                    <a:gridCol w="1419225">
                      <a:extLst>
                        <a:ext uri="{9D8B030D-6E8A-4147-A177-3AD203B41FA5}">
                          <a16:colId xmlns:a16="http://schemas.microsoft.com/office/drawing/2014/main" val="4233978162"/>
                        </a:ext>
                      </a:extLst>
                    </a:gridCol>
                    <a:gridCol w="1419225">
                      <a:extLst>
                        <a:ext uri="{9D8B030D-6E8A-4147-A177-3AD203B41FA5}">
                          <a16:colId xmlns:a16="http://schemas.microsoft.com/office/drawing/2014/main" val="1457106583"/>
                        </a:ext>
                      </a:extLst>
                    </a:gridCol>
                    <a:gridCol w="1419225">
                      <a:extLst>
                        <a:ext uri="{9D8B030D-6E8A-4147-A177-3AD203B41FA5}">
                          <a16:colId xmlns:a16="http://schemas.microsoft.com/office/drawing/2014/main" val="2754701272"/>
                        </a:ext>
                      </a:extLst>
                    </a:gridCol>
                    <a:gridCol w="1419225">
                      <a:extLst>
                        <a:ext uri="{9D8B030D-6E8A-4147-A177-3AD203B41FA5}">
                          <a16:colId xmlns:a16="http://schemas.microsoft.com/office/drawing/2014/main" val="1006931434"/>
                        </a:ext>
                      </a:extLst>
                    </a:gridCol>
                    <a:gridCol w="1419225">
                      <a:extLst>
                        <a:ext uri="{9D8B030D-6E8A-4147-A177-3AD203B41FA5}">
                          <a16:colId xmlns:a16="http://schemas.microsoft.com/office/drawing/2014/main" val="2107477723"/>
                        </a:ext>
                      </a:extLst>
                    </a:gridCol>
                    <a:gridCol w="1419225">
                      <a:extLst>
                        <a:ext uri="{9D8B030D-6E8A-4147-A177-3AD203B41FA5}">
                          <a16:colId xmlns:a16="http://schemas.microsoft.com/office/drawing/2014/main" val="2452633284"/>
                        </a:ext>
                      </a:extLst>
                    </a:gridCol>
                    <a:gridCol w="1419225">
                      <a:extLst>
                        <a:ext uri="{9D8B030D-6E8A-4147-A177-3AD203B41FA5}">
                          <a16:colId xmlns:a16="http://schemas.microsoft.com/office/drawing/2014/main" val="2059010414"/>
                        </a:ext>
                      </a:extLst>
                    </a:gridCol>
                    <a:gridCol w="1419225">
                      <a:extLst>
                        <a:ext uri="{9D8B030D-6E8A-4147-A177-3AD203B41FA5}">
                          <a16:colId xmlns:a16="http://schemas.microsoft.com/office/drawing/2014/main" val="2527443897"/>
                        </a:ext>
                      </a:extLst>
                    </a:gridCol>
                    <a:gridCol w="1419225">
                      <a:extLst>
                        <a:ext uri="{9D8B030D-6E8A-4147-A177-3AD203B41FA5}">
                          <a16:colId xmlns:a16="http://schemas.microsoft.com/office/drawing/2014/main" val="2635024040"/>
                        </a:ext>
                      </a:extLst>
                    </a:gridCol>
                  </a:tblGrid>
                  <a:tr h="74133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3200" dirty="0"/>
                            <a:t>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pt-BR" sz="3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pt-BR" sz="3200" b="1" i="1" smtClean="0">
                                        <a:latin typeface="Cambria Math" panose="02040503050406030204" pitchFamily="18" charset="0"/>
                                      </a:rPr>
                                      <m:t>X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pt-B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pt-BR" sz="3200" b="1" i="1" smtClean="0">
                                    <a:latin typeface="Cambria Math" panose="02040503050406030204" pitchFamily="18" charset="0"/>
                                  </a:rPr>
                                  <m:t>Md</m:t>
                                </m:r>
                                <m:d>
                                  <m:dPr>
                                    <m:ctrlPr>
                                      <a:rPr lang="pt-BR" sz="3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pt-BR" sz="3200" b="1" i="1" smtClean="0">
                                        <a:latin typeface="Cambria Math" panose="02040503050406030204" pitchFamily="18" charset="0"/>
                                      </a:rPr>
                                      <m:t>X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pt-BR" sz="3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pt-BR" sz="3200" b="1" i="1" smtClean="0">
                                    <a:latin typeface="Cambria Math" panose="02040503050406030204" pitchFamily="18" charset="0"/>
                                  </a:rPr>
                                  <m:t>s</m:t>
                                </m:r>
                                <m:d>
                                  <m:dPr>
                                    <m:ctrlPr>
                                      <a:rPr lang="pt-BR" sz="3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pt-BR" sz="3200" b="1" i="1" smtClean="0">
                                        <a:latin typeface="Cambria Math" panose="02040503050406030204" pitchFamily="18" charset="0"/>
                                      </a:rPr>
                                      <m:t>X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pt-BR" sz="3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pt-BR" sz="3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pt-BR" sz="3200" b="1" i="1" smtClean="0">
                                        <a:latin typeface="Cambria Math" panose="02040503050406030204" pitchFamily="18" charset="0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pt-BR" sz="3200" b="1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3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pt-BR" sz="3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pt-BR" sz="3200" b="1" i="1" smtClean="0">
                                        <a:latin typeface="Cambria Math" panose="02040503050406030204" pitchFamily="18" charset="0"/>
                                      </a:rPr>
                                      <m:t>Q</m:t>
                                    </m:r>
                                  </m:e>
                                  <m:sub>
                                    <m:r>
                                      <a:rPr lang="pt-BR" sz="3200" b="1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3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pt-BR" sz="3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pt-BR" sz="3200" b="1" i="1" smtClean="0">
                                        <a:latin typeface="Cambria Math" panose="02040503050406030204" pitchFamily="18" charset="0"/>
                                      </a:rPr>
                                      <m:t>Q</m:t>
                                    </m:r>
                                  </m:e>
                                  <m:sub>
                                    <m:r>
                                      <a:rPr lang="pt-BR" sz="3200" b="1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pt-BR" sz="3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pt-BR" sz="3600" b="1" i="1" smtClean="0">
                                        <a:latin typeface="Cambria Math" panose="02040503050406030204" pitchFamily="18" charset="0"/>
                                      </a:rPr>
                                      <m:t>X</m:t>
                                    </m:r>
                                  </m:e>
                                  <m:sub>
                                    <m:d>
                                      <m:dPr>
                                        <m:ctrlPr>
                                          <a:rPr lang="pt-BR" sz="36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pt-BR" sz="3600" b="1" i="1" smtClean="0">
                                            <a:latin typeface="Cambria Math" panose="02040503050406030204" pitchFamily="18" charset="0"/>
                                          </a:rPr>
                                          <m:t>n</m:t>
                                        </m:r>
                                      </m:e>
                                    </m:d>
                                  </m:sub>
                                </m:sSub>
                              </m:oMath>
                            </m:oMathPara>
                          </a14:m>
                          <a:endParaRPr lang="pt-BR" sz="3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pt-BR" sz="3200" b="1" i="1" smtClean="0"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  <m:d>
                                  <m:dPr>
                                    <m:ctrlPr>
                                      <a:rPr lang="pt-BR" sz="3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pt-BR" sz="3200" b="1" i="1" smtClean="0">
                                        <a:latin typeface="Cambria Math" panose="02040503050406030204" pitchFamily="18" charset="0"/>
                                      </a:rPr>
                                      <m:t>X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pt-BR" sz="3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pt-BR" sz="3200" b="1" i="1" smtClean="0">
                                    <a:latin typeface="Cambria Math" panose="02040503050406030204" pitchFamily="18" charset="0"/>
                                  </a:rPr>
                                  <m:t>K</m:t>
                                </m:r>
                                <m:d>
                                  <m:dPr>
                                    <m:ctrlPr>
                                      <a:rPr lang="pt-BR" sz="3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pt-BR" sz="3200" b="1" i="1" smtClean="0">
                                        <a:latin typeface="Cambria Math" panose="02040503050406030204" pitchFamily="18" charset="0"/>
                                      </a:rPr>
                                      <m:t>X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pt-BR" sz="3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031290"/>
                      </a:ext>
                    </a:extLst>
                  </a:tr>
                  <a:tr h="74133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3200" dirty="0"/>
                            <a:t>760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3200" dirty="0"/>
                            <a:t>4,89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3200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3200" dirty="0"/>
                            <a:t>4,91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3200" dirty="0"/>
                            <a:t>-13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3200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3200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3200" dirty="0"/>
                            <a:t>22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3200" dirty="0"/>
                            <a:t>0,02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3200" dirty="0"/>
                            <a:t>3,36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973017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ela 3">
                <a:extLst>
                  <a:ext uri="{FF2B5EF4-FFF2-40B4-BE49-F238E27FC236}">
                    <a16:creationId xmlns:a16="http://schemas.microsoft.com/office/drawing/2014/main" id="{A867DD3D-647E-9800-DB44-3EE3082DC00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08648943"/>
                  </p:ext>
                </p:extLst>
              </p:nvPr>
            </p:nvGraphicFramePr>
            <p:xfrm>
              <a:off x="17192621" y="13715157"/>
              <a:ext cx="14192250" cy="148267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19225">
                      <a:extLst>
                        <a:ext uri="{9D8B030D-6E8A-4147-A177-3AD203B41FA5}">
                          <a16:colId xmlns:a16="http://schemas.microsoft.com/office/drawing/2014/main" val="2355216373"/>
                        </a:ext>
                      </a:extLst>
                    </a:gridCol>
                    <a:gridCol w="1419225">
                      <a:extLst>
                        <a:ext uri="{9D8B030D-6E8A-4147-A177-3AD203B41FA5}">
                          <a16:colId xmlns:a16="http://schemas.microsoft.com/office/drawing/2014/main" val="4233978162"/>
                        </a:ext>
                      </a:extLst>
                    </a:gridCol>
                    <a:gridCol w="1419225">
                      <a:extLst>
                        <a:ext uri="{9D8B030D-6E8A-4147-A177-3AD203B41FA5}">
                          <a16:colId xmlns:a16="http://schemas.microsoft.com/office/drawing/2014/main" val="1457106583"/>
                        </a:ext>
                      </a:extLst>
                    </a:gridCol>
                    <a:gridCol w="1419225">
                      <a:extLst>
                        <a:ext uri="{9D8B030D-6E8A-4147-A177-3AD203B41FA5}">
                          <a16:colId xmlns:a16="http://schemas.microsoft.com/office/drawing/2014/main" val="2754701272"/>
                        </a:ext>
                      </a:extLst>
                    </a:gridCol>
                    <a:gridCol w="1419225">
                      <a:extLst>
                        <a:ext uri="{9D8B030D-6E8A-4147-A177-3AD203B41FA5}">
                          <a16:colId xmlns:a16="http://schemas.microsoft.com/office/drawing/2014/main" val="1006931434"/>
                        </a:ext>
                      </a:extLst>
                    </a:gridCol>
                    <a:gridCol w="1419225">
                      <a:extLst>
                        <a:ext uri="{9D8B030D-6E8A-4147-A177-3AD203B41FA5}">
                          <a16:colId xmlns:a16="http://schemas.microsoft.com/office/drawing/2014/main" val="2107477723"/>
                        </a:ext>
                      </a:extLst>
                    </a:gridCol>
                    <a:gridCol w="1419225">
                      <a:extLst>
                        <a:ext uri="{9D8B030D-6E8A-4147-A177-3AD203B41FA5}">
                          <a16:colId xmlns:a16="http://schemas.microsoft.com/office/drawing/2014/main" val="2452633284"/>
                        </a:ext>
                      </a:extLst>
                    </a:gridCol>
                    <a:gridCol w="1419225">
                      <a:extLst>
                        <a:ext uri="{9D8B030D-6E8A-4147-A177-3AD203B41FA5}">
                          <a16:colId xmlns:a16="http://schemas.microsoft.com/office/drawing/2014/main" val="2059010414"/>
                        </a:ext>
                      </a:extLst>
                    </a:gridCol>
                    <a:gridCol w="1419225">
                      <a:extLst>
                        <a:ext uri="{9D8B030D-6E8A-4147-A177-3AD203B41FA5}">
                          <a16:colId xmlns:a16="http://schemas.microsoft.com/office/drawing/2014/main" val="2527443897"/>
                        </a:ext>
                      </a:extLst>
                    </a:gridCol>
                    <a:gridCol w="1419225">
                      <a:extLst>
                        <a:ext uri="{9D8B030D-6E8A-4147-A177-3AD203B41FA5}">
                          <a16:colId xmlns:a16="http://schemas.microsoft.com/office/drawing/2014/main" val="2635024040"/>
                        </a:ext>
                      </a:extLst>
                    </a:gridCol>
                  </a:tblGrid>
                  <a:tr h="74133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3200" dirty="0"/>
                            <a:t>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9"/>
                          <a:stretch>
                            <a:fillRect l="-100429" t="-9756" r="-801288" b="-1032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9"/>
                          <a:stretch>
                            <a:fillRect l="-200429" t="-9756" r="-701288" b="-1032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9"/>
                          <a:stretch>
                            <a:fillRect l="-300429" t="-9756" r="-601288" b="-1032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9"/>
                          <a:stretch>
                            <a:fillRect l="-400429" t="-9756" r="-501288" b="-1032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9"/>
                          <a:stretch>
                            <a:fillRect l="-502586" t="-9756" r="-403448" b="-1032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9"/>
                          <a:stretch>
                            <a:fillRect l="-600000" t="-9756" r="-301717" b="-1032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9"/>
                          <a:stretch>
                            <a:fillRect l="-700000" t="-9756" r="-201717" b="-1032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9"/>
                          <a:stretch>
                            <a:fillRect l="-800000" t="-9756" r="-101717" b="-1032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9"/>
                          <a:stretch>
                            <a:fillRect l="-900000" t="-9756" r="-1717" b="-1032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031290"/>
                      </a:ext>
                    </a:extLst>
                  </a:tr>
                  <a:tr h="74133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3200" dirty="0"/>
                            <a:t>760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3200" dirty="0"/>
                            <a:t>4,89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3200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3200" dirty="0"/>
                            <a:t>4,91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3200" dirty="0"/>
                            <a:t>-13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3200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3200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3200" dirty="0"/>
                            <a:t>22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3200" dirty="0"/>
                            <a:t>0,02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3200" dirty="0"/>
                            <a:t>3,36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9730170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discussion">
                <a:extLst>
                  <a:ext uri="{FF2B5EF4-FFF2-40B4-BE49-F238E27FC236}">
                    <a16:creationId xmlns:a16="http://schemas.microsoft.com/office/drawing/2014/main" id="{BE3BD1B5-F6C9-4901-9158-8D12A78A1E50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7192621" y="15191739"/>
                <a:ext cx="14192248" cy="1545571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t">
                <a:noAutofit/>
              </a:bodyPr>
              <a:lstStyle/>
              <a:p>
                <a:pPr algn="just">
                  <a:lnSpc>
                    <a:spcPct val="108000"/>
                  </a:lnSpc>
                  <a:defRPr sz="3600" b="0">
                    <a:solidFill>
                      <a:srgbClr val="111111"/>
                    </a:solidFill>
                    <a:latin typeface="Calibri"/>
                    <a:ea typeface="Calibri"/>
                    <a:cs typeface="Calibri"/>
                  </a:defRPr>
                </a:pPr>
                <a:r>
                  <a:rPr lang="pt-BR" sz="28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Notação: n = número de observações;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pt-BR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pt-BR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X</m:t>
                        </m:r>
                      </m:e>
                    </m:acc>
                  </m:oMath>
                </a14:m>
                <a:r>
                  <a:rPr lang="pt-BR" sz="28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média amostral;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sz="28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Md</m:t>
                    </m:r>
                    <m:d>
                      <m:dPr>
                        <m:ctrlPr>
                          <a:rPr lang="pt-BR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pt-BR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X</m:t>
                        </m:r>
                      </m:e>
                    </m:d>
                    <m:r>
                      <a:rPr lang="pt-BR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pt-BR" sz="2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sz="28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mediana;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sz="28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s</m:t>
                    </m:r>
                    <m:d>
                      <m:dPr>
                        <m:ctrlPr>
                          <a:rPr lang="pt-BR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pt-BR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X</m:t>
                        </m:r>
                      </m:e>
                    </m:d>
                    <m:r>
                      <a:rPr lang="pt-BR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pt-BR" sz="28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desvio padrão amostral;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pt-BR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pt-BR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pt-BR" sz="28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valor mínimo;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pt-BR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a:rPr lang="pt-BR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pt-BR" sz="28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primeiro quartil;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pt-BR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a:rPr lang="pt-BR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pt-BR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pt-BR" sz="28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terceiro quartil;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pt-BR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X</m:t>
                        </m:r>
                      </m:e>
                      <m:sub>
                        <m:d>
                          <m:dPr>
                            <m:ctrlPr>
                              <a:rPr lang="pt-BR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pt-BR" sz="28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n</m:t>
                            </m:r>
                          </m:e>
                        </m:d>
                      </m:sub>
                    </m:sSub>
                    <m:r>
                      <a:rPr lang="pt-BR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pt-BR" sz="28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valor máximo;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sz="28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A</m:t>
                    </m:r>
                    <m:d>
                      <m:dPr>
                        <m:ctrlPr>
                          <a:rPr lang="pt-BR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pt-BR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X</m:t>
                        </m:r>
                      </m:e>
                    </m:d>
                    <m:r>
                      <a:rPr lang="pt-BR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pt-BR" sz="28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coeficiente de assimetria;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sz="28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K</m:t>
                    </m:r>
                    <m:d>
                      <m:dPr>
                        <m:ctrlPr>
                          <a:rPr lang="pt-BR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pt-BR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X</m:t>
                        </m:r>
                      </m:e>
                    </m:d>
                    <m:r>
                      <a:rPr lang="pt-BR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pt-BR" sz="28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coeficiente de curtose.</a:t>
                </a:r>
                <a:endParaRPr sz="2800" b="0" dirty="0">
                  <a:solidFill>
                    <a:srgbClr val="111111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Calibri"/>
                </a:endParaRPr>
              </a:p>
            </p:txBody>
          </p:sp>
        </mc:Choice>
        <mc:Fallback xmlns="">
          <p:sp>
            <p:nvSpPr>
              <p:cNvPr id="5" name="discussion">
                <a:extLst>
                  <a:ext uri="{FF2B5EF4-FFF2-40B4-BE49-F238E27FC236}">
                    <a16:creationId xmlns:a16="http://schemas.microsoft.com/office/drawing/2014/main" id="{BE3BD1B5-F6C9-4901-9158-8D12A78A1E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92621" y="15191739"/>
                <a:ext cx="14192248" cy="1545571"/>
              </a:xfrm>
              <a:prstGeom prst="rect">
                <a:avLst/>
              </a:prstGeom>
              <a:blipFill>
                <a:blip r:embed="rId10"/>
                <a:stretch>
                  <a:fillRect l="-1503" t="-7087" r="-1546" b="-3150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D3BFC657-9939-4B15-EBF9-F109C9178D33}"/>
              </a:ext>
            </a:extLst>
          </p:cNvPr>
          <p:cNvSpPr txBox="1"/>
          <p:nvPr/>
        </p:nvSpPr>
        <p:spPr>
          <a:xfrm>
            <a:off x="17113704" y="12684668"/>
            <a:ext cx="1415414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Tabela 1: Estatísticas descritivas da diferença de gols por rodada do Campeonato Brasileiro (2006–2025).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5204DB6F-6C13-2671-BDAC-92FB340B9623}"/>
              </a:ext>
            </a:extLst>
          </p:cNvPr>
          <p:cNvSpPr txBox="1"/>
          <p:nvPr/>
        </p:nvSpPr>
        <p:spPr>
          <a:xfrm>
            <a:off x="17192621" y="19827042"/>
            <a:ext cx="1415414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Tabela 3: Critérios de seleção dos modelos ajustados.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ela 8">
                <a:extLst>
                  <a:ext uri="{FF2B5EF4-FFF2-40B4-BE49-F238E27FC236}">
                    <a16:creationId xmlns:a16="http://schemas.microsoft.com/office/drawing/2014/main" id="{C5A5A52E-EAC2-806C-CC18-2CDD89D9549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73088577"/>
                  </p:ext>
                </p:extLst>
              </p:nvPr>
            </p:nvGraphicFramePr>
            <p:xfrm>
              <a:off x="17271541" y="17314880"/>
              <a:ext cx="14192246" cy="244474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198274">
                      <a:extLst>
                        <a:ext uri="{9D8B030D-6E8A-4147-A177-3AD203B41FA5}">
                          <a16:colId xmlns:a16="http://schemas.microsoft.com/office/drawing/2014/main" val="444528400"/>
                        </a:ext>
                      </a:extLst>
                    </a:gridCol>
                    <a:gridCol w="2259409">
                      <a:extLst>
                        <a:ext uri="{9D8B030D-6E8A-4147-A177-3AD203B41FA5}">
                          <a16:colId xmlns:a16="http://schemas.microsoft.com/office/drawing/2014/main" val="3542469841"/>
                        </a:ext>
                      </a:extLst>
                    </a:gridCol>
                    <a:gridCol w="2488624">
                      <a:extLst>
                        <a:ext uri="{9D8B030D-6E8A-4147-A177-3AD203B41FA5}">
                          <a16:colId xmlns:a16="http://schemas.microsoft.com/office/drawing/2014/main" val="2219981794"/>
                        </a:ext>
                      </a:extLst>
                    </a:gridCol>
                    <a:gridCol w="2095683">
                      <a:extLst>
                        <a:ext uri="{9D8B030D-6E8A-4147-A177-3AD203B41FA5}">
                          <a16:colId xmlns:a16="http://schemas.microsoft.com/office/drawing/2014/main" val="2780863426"/>
                        </a:ext>
                      </a:extLst>
                    </a:gridCol>
                    <a:gridCol w="2150256">
                      <a:extLst>
                        <a:ext uri="{9D8B030D-6E8A-4147-A177-3AD203B41FA5}">
                          <a16:colId xmlns:a16="http://schemas.microsoft.com/office/drawing/2014/main" val="3905693138"/>
                        </a:ext>
                      </a:extLst>
                    </a:gridCol>
                  </a:tblGrid>
                  <a:tr h="6111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32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Normal Discreta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pt-BR" sz="3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pt-BR" sz="32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𝝁</m:t>
                                    </m:r>
                                  </m:e>
                                </m:acc>
                                <m:r>
                                  <a:rPr lang="pt-BR" sz="3200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pt-BR" sz="3200" b="1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pt-BR" sz="3200" b="1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pt-BR" sz="3200" b="1" i="1" smtClean="0">
                                    <a:latin typeface="Cambria Math" panose="02040503050406030204" pitchFamily="18" charset="0"/>
                                  </a:rPr>
                                  <m:t>93</m:t>
                                </m:r>
                              </m:oMath>
                            </m:oMathPara>
                          </a14:m>
                          <a:endParaRPr lang="pt-BR" sz="3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pt-BR" sz="3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pt-BR" sz="32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𝝈</m:t>
                                    </m:r>
                                  </m:e>
                                </m:acc>
                                <m:r>
                                  <a:rPr lang="pt-BR" sz="3200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pt-BR" sz="3200" b="1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pt-BR" sz="3200" b="1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pt-BR" sz="3200" b="1" i="1" smtClean="0">
                                    <a:latin typeface="Cambria Math" panose="02040503050406030204" pitchFamily="18" charset="0"/>
                                  </a:rPr>
                                  <m:t>59</m:t>
                                </m:r>
                              </m:oMath>
                            </m:oMathPara>
                          </a14:m>
                          <a:endParaRPr lang="pt-BR" sz="3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3200" dirty="0"/>
                            <a:t>---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3200" dirty="0"/>
                            <a:t>---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97101139"/>
                      </a:ext>
                    </a:extLst>
                  </a:tr>
                  <a:tr h="6111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32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Skew-</a:t>
                          </a:r>
                          <a:r>
                            <a:rPr lang="pt-BR" sz="32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normal discreta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pt-BR" sz="3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pt-BR" sz="32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𝝁</m:t>
                                    </m:r>
                                  </m:e>
                                </m:acc>
                                <m:r>
                                  <a:rPr lang="pt-BR" sz="3200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pt-BR" sz="3200" b="1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pt-BR" sz="3200" b="1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pt-BR" sz="3200" b="1" i="1" smtClean="0">
                                    <a:latin typeface="Cambria Math" panose="02040503050406030204" pitchFamily="18" charset="0"/>
                                  </a:rPr>
                                  <m:t>24</m:t>
                                </m:r>
                              </m:oMath>
                            </m:oMathPara>
                          </a14:m>
                          <a:endParaRPr lang="pt-BR" sz="3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pt-BR" sz="3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pt-BR" sz="32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𝝈</m:t>
                                    </m:r>
                                  </m:e>
                                </m:acc>
                                <m:r>
                                  <a:rPr lang="pt-BR" sz="3200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pt-BR" sz="3200" b="1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pt-BR" sz="3200" b="1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pt-BR" sz="3200" b="1" i="1" smtClean="0">
                                    <a:latin typeface="Cambria Math" panose="02040503050406030204" pitchFamily="18" charset="0"/>
                                  </a:rPr>
                                  <m:t>35</m:t>
                                </m:r>
                              </m:oMath>
                            </m:oMathPara>
                          </a14:m>
                          <a:endParaRPr lang="pt-BR" sz="3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pt-BR" sz="3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pt-BR" sz="3200" i="1" smtClean="0">
                                        <a:solidFill>
                                          <a:srgbClr val="111111"/>
                                        </a:solidFill>
                                        <a:latin typeface="Cambria Math" panose="02040503050406030204" pitchFamily="18" charset="0"/>
                                        <a:ea typeface="Calibri"/>
                                        <a:cs typeface="Calibri"/>
                                      </a:rPr>
                                      <m:t>𝜆</m:t>
                                    </m:r>
                                  </m:e>
                                </m:acc>
                                <m:r>
                                  <a:rPr lang="pt-BR" sz="3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pt-BR" sz="32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pt-BR" sz="32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pt-BR" sz="3200" b="0" i="1" smtClean="0">
                                    <a:latin typeface="Cambria Math" panose="02040503050406030204" pitchFamily="18" charset="0"/>
                                  </a:rPr>
                                  <m:t>58</m:t>
                                </m:r>
                              </m:oMath>
                            </m:oMathPara>
                          </a14:m>
                          <a:endParaRPr lang="pt-BR" sz="3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3200" dirty="0"/>
                            <a:t>---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23212234"/>
                      </a:ext>
                    </a:extLst>
                  </a:tr>
                  <a:tr h="6111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32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Skellam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pt-BR" sz="3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pt-BR" sz="3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3200" i="1" smtClean="0">
                                            <a:solidFill>
                                              <a:srgbClr val="111111"/>
                                            </a:solidFill>
                                            <a:latin typeface="Cambria Math" panose="02040503050406030204" pitchFamily="18" charset="0"/>
                                            <a:ea typeface="Calibri"/>
                                            <a:cs typeface="Calibri"/>
                                          </a:rPr>
                                          <m:t>𝜆</m:t>
                                        </m:r>
                                      </m:e>
                                      <m:sub>
                                        <m:r>
                                          <a:rPr lang="pt-BR" sz="32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pt-BR" sz="3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pt-BR" sz="3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pt-BR" sz="32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pt-BR" sz="3200" b="0" i="1" smtClean="0">
                                    <a:latin typeface="Cambria Math" panose="02040503050406030204" pitchFamily="18" charset="0"/>
                                  </a:rPr>
                                  <m:t>67</m:t>
                                </m:r>
                              </m:oMath>
                            </m:oMathPara>
                          </a14:m>
                          <a:endParaRPr lang="pt-BR" sz="3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pt-BR" sz="3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pt-BR" sz="3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3200" i="1" smtClean="0">
                                            <a:solidFill>
                                              <a:srgbClr val="111111"/>
                                            </a:solidFill>
                                            <a:latin typeface="Cambria Math" panose="02040503050406030204" pitchFamily="18" charset="0"/>
                                            <a:ea typeface="Calibri"/>
                                            <a:cs typeface="Calibri"/>
                                          </a:rPr>
                                          <m:t>𝜆</m:t>
                                        </m:r>
                                      </m:e>
                                      <m:sub>
                                        <m:r>
                                          <a:rPr lang="pt-BR" sz="3200" b="0" i="1" smtClean="0">
                                            <a:solidFill>
                                              <a:srgbClr val="111111"/>
                                            </a:solidFill>
                                            <a:latin typeface="Cambria Math" panose="02040503050406030204" pitchFamily="18" charset="0"/>
                                            <a:ea typeface="Calibri"/>
                                            <a:cs typeface="Calibri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pt-BR" sz="3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pt-BR" sz="3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pt-BR" sz="32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pt-BR" sz="3200" b="0" i="1" smtClean="0">
                                    <a:latin typeface="Cambria Math" panose="02040503050406030204" pitchFamily="18" charset="0"/>
                                  </a:rPr>
                                  <m:t>26</m:t>
                                </m:r>
                              </m:oMath>
                            </m:oMathPara>
                          </a14:m>
                          <a:endParaRPr lang="pt-BR" sz="3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3200" dirty="0"/>
                            <a:t>---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3200" dirty="0"/>
                            <a:t>---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82031540"/>
                      </a:ext>
                    </a:extLst>
                  </a:tr>
                  <a:tr h="6111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32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Diferença Weibull discreta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pt-BR" sz="3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pt-BR" sz="3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pt-BR" sz="3200" b="0" i="1" smtClean="0">
                                            <a:latin typeface="Cambria Math" panose="02040503050406030204" pitchFamily="18" charset="0"/>
                                          </a:rPr>
                                          <m:t>q</m:t>
                                        </m:r>
                                      </m:e>
                                      <m:sub>
                                        <m:r>
                                          <a:rPr lang="pt-BR" sz="32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pt-BR" sz="3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pt-BR" sz="32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pt-BR" sz="32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pt-BR" sz="3200" b="0" i="1" smtClean="0">
                                    <a:latin typeface="Cambria Math" panose="02040503050406030204" pitchFamily="18" charset="0"/>
                                  </a:rPr>
                                  <m:t>01</m:t>
                                </m:r>
                              </m:oMath>
                            </m:oMathPara>
                          </a14:m>
                          <a:endParaRPr lang="pt-BR" sz="3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pt-BR" sz="3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pt-BR" sz="3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32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  <m:sub>
                                        <m:r>
                                          <a:rPr lang="pt-BR" sz="32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pt-BR" sz="3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pt-BR" sz="32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pt-BR" sz="32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pt-BR" sz="3200" b="0" i="1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oMath>
                            </m:oMathPara>
                          </a14:m>
                          <a:endParaRPr lang="pt-BR" sz="3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pt-BR" sz="3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pt-BR" sz="3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pt-BR" sz="3200" b="0" i="1" smtClean="0">
                                            <a:latin typeface="Cambria Math" panose="02040503050406030204" pitchFamily="18" charset="0"/>
                                          </a:rPr>
                                          <m:t>q</m:t>
                                        </m:r>
                                      </m:e>
                                      <m:sub>
                                        <m:r>
                                          <a:rPr lang="pt-BR" sz="32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pt-BR" sz="3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pt-BR" sz="3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pt-BR" sz="32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pt-BR" sz="3200" b="0" i="1" smtClean="0">
                                    <a:latin typeface="Cambria Math" panose="02040503050406030204" pitchFamily="18" charset="0"/>
                                  </a:rPr>
                                  <m:t>57</m:t>
                                </m:r>
                              </m:oMath>
                            </m:oMathPara>
                          </a14:m>
                          <a:endParaRPr lang="pt-BR" sz="3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pt-BR" sz="3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pt-BR" sz="3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32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  <m:sub>
                                        <m:r>
                                          <a:rPr lang="pt-BR" sz="32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pt-BR" sz="3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pt-BR" sz="32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pt-BR" sz="32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pt-BR" sz="3200" b="0" i="1" smtClean="0">
                                    <a:latin typeface="Cambria Math" panose="02040503050406030204" pitchFamily="18" charset="0"/>
                                  </a:rPr>
                                  <m:t>22</m:t>
                                </m:r>
                              </m:oMath>
                            </m:oMathPara>
                          </a14:m>
                          <a:endParaRPr lang="pt-BR" sz="3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2953371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ela 8">
                <a:extLst>
                  <a:ext uri="{FF2B5EF4-FFF2-40B4-BE49-F238E27FC236}">
                    <a16:creationId xmlns:a16="http://schemas.microsoft.com/office/drawing/2014/main" id="{C5A5A52E-EAC2-806C-CC18-2CDD89D9549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73088577"/>
                  </p:ext>
                </p:extLst>
              </p:nvPr>
            </p:nvGraphicFramePr>
            <p:xfrm>
              <a:off x="17271541" y="17314880"/>
              <a:ext cx="14192246" cy="244474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198274">
                      <a:extLst>
                        <a:ext uri="{9D8B030D-6E8A-4147-A177-3AD203B41FA5}">
                          <a16:colId xmlns:a16="http://schemas.microsoft.com/office/drawing/2014/main" val="444528400"/>
                        </a:ext>
                      </a:extLst>
                    </a:gridCol>
                    <a:gridCol w="2259409">
                      <a:extLst>
                        <a:ext uri="{9D8B030D-6E8A-4147-A177-3AD203B41FA5}">
                          <a16:colId xmlns:a16="http://schemas.microsoft.com/office/drawing/2014/main" val="3542469841"/>
                        </a:ext>
                      </a:extLst>
                    </a:gridCol>
                    <a:gridCol w="2488624">
                      <a:extLst>
                        <a:ext uri="{9D8B030D-6E8A-4147-A177-3AD203B41FA5}">
                          <a16:colId xmlns:a16="http://schemas.microsoft.com/office/drawing/2014/main" val="2219981794"/>
                        </a:ext>
                      </a:extLst>
                    </a:gridCol>
                    <a:gridCol w="2095683">
                      <a:extLst>
                        <a:ext uri="{9D8B030D-6E8A-4147-A177-3AD203B41FA5}">
                          <a16:colId xmlns:a16="http://schemas.microsoft.com/office/drawing/2014/main" val="2780863426"/>
                        </a:ext>
                      </a:extLst>
                    </a:gridCol>
                    <a:gridCol w="2150256">
                      <a:extLst>
                        <a:ext uri="{9D8B030D-6E8A-4147-A177-3AD203B41FA5}">
                          <a16:colId xmlns:a16="http://schemas.microsoft.com/office/drawing/2014/main" val="3905693138"/>
                        </a:ext>
                      </a:extLst>
                    </a:gridCol>
                  </a:tblGrid>
                  <a:tr h="6111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32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Normal Discreta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11"/>
                          <a:stretch>
                            <a:fillRect l="-230189" t="-12871" r="-298922" b="-3247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11"/>
                          <a:stretch>
                            <a:fillRect l="-300245" t="-12871" r="-171814" b="-3247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3200" dirty="0"/>
                            <a:t>---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3200" dirty="0"/>
                            <a:t>---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97101139"/>
                      </a:ext>
                    </a:extLst>
                  </a:tr>
                  <a:tr h="6111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32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Skew-</a:t>
                          </a:r>
                          <a:r>
                            <a:rPr lang="pt-BR" sz="3200" i="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normal discreta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11"/>
                          <a:stretch>
                            <a:fillRect l="-230189" t="-114000" r="-298922" b="-22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11"/>
                          <a:stretch>
                            <a:fillRect l="-300245" t="-114000" r="-171814" b="-22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11"/>
                          <a:stretch>
                            <a:fillRect l="-474709" t="-114000" r="-103779" b="-22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3200" dirty="0"/>
                            <a:t>---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23212234"/>
                      </a:ext>
                    </a:extLst>
                  </a:tr>
                  <a:tr h="6111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32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Skellam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11"/>
                          <a:stretch>
                            <a:fillRect l="-230189" t="-211881" r="-298922" b="-1257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11"/>
                          <a:stretch>
                            <a:fillRect l="-300245" t="-211881" r="-171814" b="-1257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3200" dirty="0"/>
                            <a:t>---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3200" dirty="0"/>
                            <a:t>---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82031540"/>
                      </a:ext>
                    </a:extLst>
                  </a:tr>
                  <a:tr h="6111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32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Diferença Weibull discreta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11"/>
                          <a:stretch>
                            <a:fillRect l="-230189" t="-315000" r="-298922" b="-27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11"/>
                          <a:stretch>
                            <a:fillRect l="-300245" t="-315000" r="-171814" b="-27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11"/>
                          <a:stretch>
                            <a:fillRect l="-474709" t="-315000" r="-103779" b="-27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11"/>
                          <a:stretch>
                            <a:fillRect l="-560057" t="-315000" r="-1133" b="-27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2953371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0" name="CaixaDeTexto 9">
            <a:extLst>
              <a:ext uri="{FF2B5EF4-FFF2-40B4-BE49-F238E27FC236}">
                <a16:creationId xmlns:a16="http://schemas.microsoft.com/office/drawing/2014/main" id="{7A454A17-C895-40A1-DC17-75BB590CB3BB}"/>
              </a:ext>
            </a:extLst>
          </p:cNvPr>
          <p:cNvSpPr txBox="1"/>
          <p:nvPr/>
        </p:nvSpPr>
        <p:spPr>
          <a:xfrm>
            <a:off x="17153165" y="16773468"/>
            <a:ext cx="1415414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Tabela 2: Estimativa dos parâmetros ajustados. </a:t>
            </a: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C1BFF948-DEB0-9089-CF91-C54044B3B42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7232082" y="24229341"/>
            <a:ext cx="14350083" cy="7199391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07E5F329-0581-0400-8358-D763DC30E815}"/>
              </a:ext>
            </a:extLst>
          </p:cNvPr>
          <p:cNvSpPr txBox="1"/>
          <p:nvPr/>
        </p:nvSpPr>
        <p:spPr>
          <a:xfrm>
            <a:off x="17211672" y="24363196"/>
            <a:ext cx="1415414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Figura 1: Frequências observadas e probabilidades ajustadas pelos modelos probabilísticos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7665FC9E-F5C4-4ED5-A22A-D48559BC550C}"/>
              </a:ext>
            </a:extLst>
          </p:cNvPr>
          <p:cNvSpPr txBox="1"/>
          <p:nvPr/>
        </p:nvSpPr>
        <p:spPr>
          <a:xfrm>
            <a:off x="15554306" y="34265349"/>
            <a:ext cx="16197942" cy="998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36195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lang="pt-BR" sz="4400" b="1" i="0" u="none" strike="noStrike" cap="none" dirty="0">
                <a:solidFill>
                  <a:srgbClr val="3E6395"/>
                </a:solidFill>
                <a:latin typeface="Calibri"/>
                <a:ea typeface="Calibri"/>
                <a:cs typeface="Calibri"/>
                <a:sym typeface="Calibri"/>
              </a:rPr>
              <a:t>REFERÊNCIAS BIBLIOGRÁFICAS</a:t>
            </a:r>
            <a:endParaRPr lang="pt-BR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conclusao-rule">
            <a:extLst>
              <a:ext uri="{FF2B5EF4-FFF2-40B4-BE49-F238E27FC236}">
                <a16:creationId xmlns:a16="http://schemas.microsoft.com/office/drawing/2014/main" id="{49CF10C1-BF42-3046-1E3B-9E6F9D0154C6}"/>
              </a:ext>
            </a:extLst>
          </p:cNvPr>
          <p:cNvSpPr>
            <a:spLocks noGrp="1"/>
          </p:cNvSpPr>
          <p:nvPr/>
        </p:nvSpPr>
        <p:spPr>
          <a:xfrm>
            <a:off x="17094652" y="35264020"/>
            <a:ext cx="14192250" cy="0"/>
          </a:xfrm>
          <a:prstGeom prst="line">
            <a:avLst/>
          </a:prstGeom>
          <a:noFill/>
          <a:ln w="38100">
            <a:solidFill>
              <a:srgbClr val="3E6395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1" name="Rectangle 2">
            <a:extLst>
              <a:ext uri="{FF2B5EF4-FFF2-40B4-BE49-F238E27FC236}">
                <a16:creationId xmlns:a16="http://schemas.microsoft.com/office/drawing/2014/main" id="{3ABCC93B-C91C-224F-509A-60484D904C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75600" y="35303804"/>
            <a:ext cx="14192241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DUQUE, A. </a:t>
            </a:r>
            <a:r>
              <a:rPr kumimoji="0" lang="pt-BR" altLang="pt-BR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Brasileirão Dataset</a:t>
            </a: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: </a:t>
            </a:r>
            <a:r>
              <a:rPr kumimoji="0" lang="pt-BR" altLang="pt-BR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Campeonato Brasileiro de Futebol</a:t>
            </a: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. 2025. Arquivo</a:t>
            </a:r>
            <a:r>
              <a:rPr lang="pt-BR" altLang="pt-BR" sz="28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campeonato-brasileiro-full.csv. Acesso em: 07 ago. 2026. </a:t>
            </a:r>
          </a:p>
        </p:txBody>
      </p:sp>
      <p:sp>
        <p:nvSpPr>
          <p:cNvPr id="22" name="Rectangle 3">
            <a:extLst>
              <a:ext uri="{FF2B5EF4-FFF2-40B4-BE49-F238E27FC236}">
                <a16:creationId xmlns:a16="http://schemas.microsoft.com/office/drawing/2014/main" id="{270E916A-2DD5-F650-27B6-8362C6823F04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7052466" y="36208802"/>
            <a:ext cx="14630393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AZZALINI, A. A class of distributions which includes the normal ones. Scandinavian Journal of Statistics, [Board of the Foundation of the </a:t>
            </a:r>
            <a:r>
              <a:rPr kumimoji="0" lang="pt-BR" altLang="pt-BR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Scandinavian Journal of Statistics</a:t>
            </a: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, Wiley], v. 12, n. 2, p. 171–178, 1985. ISSN 03036898, 14679469. Disponível em: . </a:t>
            </a:r>
          </a:p>
        </p:txBody>
      </p:sp>
      <p:sp>
        <p:nvSpPr>
          <p:cNvPr id="23" name="Rectangle 4">
            <a:extLst>
              <a:ext uri="{FF2B5EF4-FFF2-40B4-BE49-F238E27FC236}">
                <a16:creationId xmlns:a16="http://schemas.microsoft.com/office/drawing/2014/main" id="{688C618F-0A78-D8DE-07EB-8D618B7DD8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52465" y="37544688"/>
            <a:ext cx="14630394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SKELLAM, J. G. The frequency distribution of the difference between two poisson variates belonging to different populations.</a:t>
            </a:r>
            <a:r>
              <a:rPr kumimoji="0" lang="pt-BR" altLang="pt-BR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Journal of the Royal Statistical Society</a:t>
            </a: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, v. 109, n. 3, p. 296–296, 1946. Disponível em: . 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5512C812-EB87-6303-CA09-0EF47AFFFE2D}"/>
              </a:ext>
            </a:extLst>
          </p:cNvPr>
          <p:cNvSpPr txBox="1"/>
          <p:nvPr/>
        </p:nvSpPr>
        <p:spPr>
          <a:xfrm>
            <a:off x="17075600" y="38880575"/>
            <a:ext cx="1467664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NAKAGAWA, T.; OSAKI, S. The discrete </a:t>
            </a:r>
            <a:r>
              <a:rPr lang="en-US" sz="28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weibull</a:t>
            </a:r>
            <a:r>
              <a:rPr lang="en-US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 distribution. </a:t>
            </a:r>
            <a:r>
              <a:rPr lang="en-US" sz="28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IEEE Transactions on Reliability</a:t>
            </a:r>
            <a:r>
              <a:rPr lang="en-US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, R-24, n. 5, p. 300–301, 1975.</a:t>
            </a:r>
            <a:endParaRPr lang="pt-BR" sz="28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B33AAC04-CC25-1AAF-4449-1CF5DC616418}"/>
              </a:ext>
            </a:extLst>
          </p:cNvPr>
          <p:cNvSpPr txBox="1"/>
          <p:nvPr/>
        </p:nvSpPr>
        <p:spPr>
          <a:xfrm>
            <a:off x="15554306" y="39458433"/>
            <a:ext cx="16197942" cy="998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36195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lang="pt-BR" sz="4400" b="1" dirty="0">
                <a:solidFill>
                  <a:srgbClr val="3E6395"/>
                </a:solidFill>
                <a:latin typeface="Calibri"/>
                <a:cs typeface="Calibri"/>
                <a:sym typeface="Calibri"/>
              </a:rPr>
              <a:t>AGRADECIMENTOS</a:t>
            </a:r>
            <a:endParaRPr lang="pt-BR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" name="Picture 6" descr="Fapemig apresenta nova identidade visual | Arquivo de ...">
            <a:extLst>
              <a:ext uri="{FF2B5EF4-FFF2-40B4-BE49-F238E27FC236}">
                <a16:creationId xmlns:a16="http://schemas.microsoft.com/office/drawing/2014/main" id="{746A1E0A-84F7-AE99-6FB7-D308665167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86770" y="40452324"/>
            <a:ext cx="2431588" cy="173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0" descr="CNPQ abre nova Chamada para concessão de bolsas de Mestrado ...">
            <a:extLst>
              <a:ext uri="{FF2B5EF4-FFF2-40B4-BE49-F238E27FC236}">
                <a16:creationId xmlns:a16="http://schemas.microsoft.com/office/drawing/2014/main" id="{AD766987-ECA2-E89F-2AA8-552381B154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17639" y="40697869"/>
            <a:ext cx="2162730" cy="15391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12" descr="Eventos - CONFAP — Conselho Nacional das Fundações Estaduais ...">
            <a:extLst>
              <a:ext uri="{FF2B5EF4-FFF2-40B4-BE49-F238E27FC236}">
                <a16:creationId xmlns:a16="http://schemas.microsoft.com/office/drawing/2014/main" id="{E72E0B85-9741-9A5D-0916-921C4C13E8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71794" y="40527572"/>
            <a:ext cx="2414976" cy="1685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05967790-00C1-279A-69E4-E42CF51C4741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9523794" y="40422409"/>
            <a:ext cx="2921978" cy="1625350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F243DE79-8A5F-163D-9FB4-782ECC5F3692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2535295" y="40755854"/>
            <a:ext cx="2265676" cy="1387663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AA3B4C93-31D7-2D96-D84F-D9A90D170575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6994898" y="40326398"/>
            <a:ext cx="2619352" cy="185206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1017</TotalTime>
  <Words>993</Words>
  <Application>Microsoft Office PowerPoint</Application>
  <PresentationFormat>Personalizados</PresentationFormat>
  <Paragraphs>100</Paragraphs>
  <Slides>1</Slides>
  <Notes>1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</vt:i4>
      </vt:variant>
    </vt:vector>
  </HeadingPairs>
  <TitlesOfParts>
    <vt:vector size="5" baseType="lpstr">
      <vt:lpstr>Arial</vt:lpstr>
      <vt:lpstr>Calibri</vt:lpstr>
      <vt:lpstr>Cambria Math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Glauber</dc:creator>
  <cp:lastModifiedBy>Lucas Pereira Belo</cp:lastModifiedBy>
  <cp:revision>10</cp:revision>
  <dcterms:created xsi:type="dcterms:W3CDTF">2011-08-10T18:22:05Z</dcterms:created>
  <dcterms:modified xsi:type="dcterms:W3CDTF">2026-10-20T01:42:11Z</dcterms:modified>
</cp:coreProperties>
</file>